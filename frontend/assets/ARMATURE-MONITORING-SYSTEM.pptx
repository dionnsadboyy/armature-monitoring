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e763a7854648e6" /><Relationship Type="http://schemas.openxmlformats.org/officeDocument/2006/relationships/extended-properties" Target="/docProps/app.xml" Id="R1dc564e12d9f48b0" /><Relationship Type="http://schemas.openxmlformats.org/officeDocument/2006/relationships/officeDocument" Target="/ppt/presentation.xml" Id="R846421d9d2954b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d06b4c4f694773"/>
  </p:sldMasterIdLst>
  <p:notesMasterIdLst>
    <p:notesMasterId xmlns:r="http://schemas.openxmlformats.org/officeDocument/2006/relationships" r:id="R1c3942ddc183483b"/>
  </p:notesMasterIdLst>
  <p:sldIdLst>
    <p:sldId xmlns:r="http://schemas.openxmlformats.org/officeDocument/2006/relationships" id="256" r:id="Rf73e9270c83341cf"/>
    <p:sldId xmlns:r="http://schemas.openxmlformats.org/officeDocument/2006/relationships" id="257" r:id="R6650147abdb2403e"/>
    <p:sldId xmlns:r="http://schemas.openxmlformats.org/officeDocument/2006/relationships" id="258" r:id="R60d2f4966f6c4a3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79527f25ee4f37" /><Relationship Type="http://schemas.openxmlformats.org/officeDocument/2006/relationships/slideMaster" Target="/ppt/slideMasters/slideMaster1.xml" Id="R2dd06b4c4f694773" /><Relationship Type="http://schemas.openxmlformats.org/officeDocument/2006/relationships/notesMaster" Target="/ppt/notesMasters/notesMaster1.xml" Id="R1c3942ddc183483b" /><Relationship Type="http://schemas.openxmlformats.org/officeDocument/2006/relationships/presProps" Target="/ppt/presProps.xml" Id="Ra5c0354e35604af1" /><Relationship Type="http://schemas.openxmlformats.org/officeDocument/2006/relationships/viewProps" Target="/ppt/viewProps.xml" Id="R76bdf9d43a0842a9" /><Relationship Type="http://schemas.openxmlformats.org/officeDocument/2006/relationships/tableStyles" Target="/ppt/tableStyles.xml" Id="R9d3eb7c44eb74871" /><Relationship Type="http://schemas.openxmlformats.org/officeDocument/2006/relationships/slide" Target="/ppt/slides/slide1.xml" Id="Rf73e9270c83341cf" /><Relationship Type="http://schemas.openxmlformats.org/officeDocument/2006/relationships/slide" Target="/ppt/slides/slide2.xml" Id="R6650147abdb2403e" /><Relationship Type="http://schemas.openxmlformats.org/officeDocument/2006/relationships/slide" Target="/ppt/slides/slide3.xml" Id="R60d2f4966f6c4a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16b473c59842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76200" dist="30121" dir="4293903">
              <a:srgbClr val="17324D">
                <a:alpha val="8000"/>
              </a:srgbClr>
            </a:outerShdw>
          </a:effectLst>
        </a:effectStyle>
        <a:effectStyle>
          <a:effectLst>
            <a:outerShdw blurRad="133350" dist="51294" dir="4091915">
              <a:srgbClr val="17324D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e16d0176fa4324" /><Relationship Type="http://schemas.openxmlformats.org/officeDocument/2006/relationships/notesMaster" Target="/ppt/notesMasters/notesMaster1.xml" Id="R01a2fbe8abf34f6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3c831391d374960" /><Relationship Type="http://schemas.openxmlformats.org/officeDocument/2006/relationships/notesMaster" Target="/ppt/notesMasters/notesMaster1.xml" Id="R9ead2d337334485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e5cb530353e49dd" /><Relationship Type="http://schemas.openxmlformats.org/officeDocument/2006/relationships/notesMaster" Target="/ppt/notesMasters/notesMaster1.xml" Id="R1de9a16d6729444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System overview. Viewer and BOP each have a separate role-based flow. DONE closes a request only; USE or UPDATE STOCK changes stock.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Viewer flow: login, select K62 or K70, check stock, then use material or submit a request. Replace all four dashed frames with original screenshots.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BOP flow: open dashboard, receive and process requests, move status from pending to ongoing to done, update actual stock, and edit Armature Running. Replace all four dashed frames with original screenshots.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684a81ea214d2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3e84c153e324595" /><Relationship Type="http://schemas.openxmlformats.org/officeDocument/2006/relationships/slideLayout" Target="/ppt/slideLayouts/slideLayout1.xml" Id="Rc75830b725bf425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75830b725bf425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76200" dist="30121" dir="4293903">
              <a:srgbClr val="17324D">
                <a:alpha val="8000"/>
              </a:srgbClr>
            </a:outerShdw>
          </a:effectLst>
        </a:effectStyle>
        <a:effectStyle>
          <a:effectLst>
            <a:outerShdw blurRad="133350" dist="51294" dir="4091915">
              <a:srgbClr val="17324D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4de824408a4771" /><Relationship Type="http://schemas.openxmlformats.org/officeDocument/2006/relationships/image" Target="/ppt/media/image.png" Id="Re359b36ed0b7454a" /><Relationship Type="http://schemas.openxmlformats.org/officeDocument/2006/relationships/notesSlide" Target="/ppt/notesSlides/notesSlide1.xml" Id="R0d5fe21eb37a40f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18618c0f5440a4" /><Relationship Type="http://schemas.openxmlformats.org/officeDocument/2006/relationships/image" Target="/ppt/media/image2.png" Id="Rbec3d81db5a04ed7" /><Relationship Type="http://schemas.openxmlformats.org/officeDocument/2006/relationships/image" Target="/ppt/media/image3.png" Id="R877040ac76f34ef4" /><Relationship Type="http://schemas.openxmlformats.org/officeDocument/2006/relationships/image" Target="/ppt/media/image4.png" Id="Recff0cf22e4d471e" /><Relationship Type="http://schemas.openxmlformats.org/officeDocument/2006/relationships/image" Target="/ppt/media/image5.png" Id="R2ff1190eefa6430b" /><Relationship Type="http://schemas.openxmlformats.org/officeDocument/2006/relationships/image" Target="/ppt/media/image.png" Id="Rbea84b62ec494d10" /><Relationship Type="http://schemas.openxmlformats.org/officeDocument/2006/relationships/notesSlide" Target="/ppt/notesSlides/notesSlide2.xml" Id="R290f8298981c4fc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10eebdcbf4451b" /><Relationship Type="http://schemas.openxmlformats.org/officeDocument/2006/relationships/image" Target="/ppt/media/image6.png" Id="R4c60ef74ad66454c" /><Relationship Type="http://schemas.openxmlformats.org/officeDocument/2006/relationships/image" Target="/ppt/media/image7.png" Id="Rcb694222748440e2" /><Relationship Type="http://schemas.openxmlformats.org/officeDocument/2006/relationships/image" Target="/ppt/media/image8.png" Id="Rb63ed0cddb1b4458" /><Relationship Type="http://schemas.openxmlformats.org/officeDocument/2006/relationships/image" Target="/ppt/media/image9.png" Id="R09a57a47c35d456b" /><Relationship Type="http://schemas.openxmlformats.org/officeDocument/2006/relationships/image" Target="/ppt/media/image.png" Id="R3995dac382114e79" /><Relationship Type="http://schemas.openxmlformats.org/officeDocument/2006/relationships/notesSlide" Target="/ppt/notesSlides/notesSlide3.xml" Id="R817f4f89a2dc405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1" name="Rectangle 110">
            <a:extLst xmlns:a="http://schemas.openxmlformats.org/drawingml/2006/main">
              <a:ext uri="{FF2B5EF4-FFF2-40B4-BE49-F238E27FC236}">
                <a16:creationId xmlns:a16="http://schemas.microsoft.com/office/drawing/2014/main" id="{0BCBFBCD-C68E-40DC-B660-89BC0E7B9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315B"/>
          </a:solidFill>
          <a:ln xmlns:a="http://schemas.openxmlformats.org/drawingml/2006/main" w="0">
            <a:solidFill>
              <a:srgbClr val="0C315B"/>
            </a:solidFill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B6328BA-023A-4FFA-962A-D2E3F0575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0955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026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C315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0C315B"/>
                </a:solidFill>
                <a:latin typeface="DejaVu Sans"/>
                <a:ea typeface="DejaVu Sans"/>
                <a:cs typeface="DejaVu Sans"/>
              </a:rPr>
              <a:t>ARMATURE MONITORING SYSTEM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B73FFA1-8807-420B-B301-ADD27B7E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81025"/>
            <a:ext cx="7905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617A91"/>
                </a:solidFill>
                <a:latin typeface="DejaVu Sans"/>
                <a:ea typeface="DejaVu Sans"/>
                <a:cs typeface="DejaVu Sans"/>
              </a:defRPr>
            </a:pPr>
            <a:r>
              <a:rPr sz="915" b="0">
                <a:solidFill>
                  <a:srgbClr val="617A91"/>
                </a:solidFill>
                <a:latin typeface="DejaVu Sans"/>
                <a:ea typeface="DejaVu Sans"/>
                <a:cs typeface="DejaVu Sans"/>
              </a:rPr>
              <a:t>Material Flow &amp; System Usage — ARMATURE LINE BOP ↔ BLOWER ASSY BOP</a:t>
            </a:r>
          </a:p>
        </p:txBody>
      </p:sp>
      <p:sp>
        <p:nvSpPr>
          <p:cNvPr id="4" name="Rectangle: Rounded Corners 3">
            <a:extLst xmlns:a="http://schemas.openxmlformats.org/drawingml/2006/main">
              <a:ext uri="{FF2B5EF4-FFF2-40B4-BE49-F238E27FC236}">
                <a16:creationId xmlns:a16="http://schemas.microsoft.com/office/drawing/2014/main" id="{08591AC1-1D8E-4069-BD79-FE2C9091D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333375"/>
            <a:ext cx="1095375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7FD"/>
          </a:solidFill>
          <a:ln xmlns:a="http://schemas.openxmlformats.org/drawingml/2006/main" w="10478">
            <a:solidFill>
              <a:srgbClr val="B8D5E8"/>
            </a:solidFill>
            <a:prstDash val="solid"/>
          </a:ln>
        </p:spPr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DD3F5E2-0546-4AA0-BC24-9F887973D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333375"/>
            <a:ext cx="1095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53" b="1">
                <a:solidFill>
                  <a:srgbClr val="2575BA"/>
                </a:solidFill>
                <a:latin typeface="DejaVu Sans"/>
                <a:ea typeface="DejaVu Sans"/>
                <a:cs typeface="DejaVu Sans"/>
              </a:defRPr>
            </a:pPr>
            <a:r>
              <a:rPr sz="653" b="1">
                <a:solidFill>
                  <a:srgbClr val="2575BA"/>
                </a:solidFill>
                <a:latin typeface="DejaVu Sans"/>
                <a:ea typeface="DejaVu Sans"/>
                <a:cs typeface="DejaVu Sans"/>
              </a:rPr>
              <a:t>SLIDE 1 / 3</a:t>
            </a:r>
          </a:p>
        </p:txBody>
      </p:sp>
      <p:sp>
        <p:nvSpPr>
          <p:cNvPr id="6" name="Rectangle: Rounded Corners 5">
            <a:extLst xmlns:a="http://schemas.openxmlformats.org/drawingml/2006/main">
              <a:ext uri="{FF2B5EF4-FFF2-40B4-BE49-F238E27FC236}">
                <a16:creationId xmlns:a16="http://schemas.microsoft.com/office/drawing/2014/main" id="{15B3D0D4-0B02-484B-A905-96E5AA313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000125"/>
            <a:ext cx="11658600" cy="128587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0F7FC"/>
          </a:solidFill>
          <a:ln xmlns:a="http://schemas.openxmlformats.org/drawingml/2006/main" w="10478">
            <a:solidFill>
              <a:srgbClr val="BCDCEF"/>
            </a:solidFill>
            <a:prstDash val="solid"/>
          </a:ln>
        </p:spPr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2B0E29FE-9FC5-47DD-A6AC-1E3AD2BB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00300"/>
            <a:ext cx="11658600" cy="1381125"/>
          </a:xfrm>
          <a:prstGeom xmlns:a="http://schemas.openxmlformats.org/drawingml/2006/main" prst="roundRect">
            <a:avLst>
              <a:gd name="adj" fmla="val 1241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0478">
            <a:solidFill>
              <a:srgbClr val="CFDDE8"/>
            </a:solidFill>
            <a:prstDash val="solid"/>
          </a:ln>
        </p:spPr>
      </p:sp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EF8C552F-0058-4A98-94F5-F46E1ED31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143000"/>
            <a:ext cx="1666875" cy="9906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2575BA"/>
            </a:solidFill>
            <a:prstDash val="solid"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B2A6D87-8504-4520-8DDB-F41DE67A1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28725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787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C315B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0C315B"/>
                </a:solidFill>
                <a:latin typeface="DejaVu Sans"/>
                <a:ea typeface="DejaVu Sans"/>
                <a:cs typeface="DejaVu Sans"/>
              </a:rPr>
              <a:t>BLOWER ASSY BOP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B7825A2-07CA-4862-9EE2-DBD6015FA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57325"/>
            <a:ext cx="13811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76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60" b="1">
                <a:solidFill>
                  <a:srgbClr val="2575BA"/>
                </a:solidFill>
                <a:latin typeface="DejaVu Sans"/>
                <a:ea typeface="DejaVu Sans"/>
                <a:cs typeface="DejaVu Sans"/>
              </a:defRPr>
            </a:pPr>
            <a:r>
              <a:rPr sz="660" b="1">
                <a:solidFill>
                  <a:srgbClr val="2575BA"/>
                </a:solidFill>
                <a:latin typeface="DejaVu Sans"/>
                <a:ea typeface="DejaVu Sans"/>
                <a:cs typeface="DejaVu Sans"/>
              </a:rPr>
              <a:t>PRODUCTION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9681DEB8-71A6-4DAF-A4E7-C88E14549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85925"/>
            <a:ext cx="1381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00" b="0">
                <a:solidFill>
                  <a:srgbClr val="617A91"/>
                </a:solidFill>
                <a:latin typeface="DejaVu Sans"/>
                <a:ea typeface="DejaVu Sans"/>
                <a:cs typeface="DejaVu Sans"/>
              </a:defRPr>
            </a:pPr>
            <a:r>
              <a:rPr sz="600" b="0">
                <a:solidFill>
                  <a:srgbClr val="617A91"/>
                </a:solidFill>
                <a:latin typeface="DejaVu Sans"/>
                <a:ea typeface="DejaVu Sans"/>
                <a:cs typeface="DejaVu Sans"/>
              </a:rPr>
              <a:t>View, use, and request material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8A33FB00-0661-493C-B216-B720A2DD6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1323975"/>
            <a:ext cx="971550" cy="619125"/>
          </a:xfrm>
          <a:prstGeom xmlns:a="http://schemas.openxmlformats.org/drawingml/2006/main" prst="roundRect">
            <a:avLst>
              <a:gd name="adj" fmla="val 16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2E3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D70AD42A-8E67-4873-8FD6-CFC3AD333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1514475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75BA"/>
          </a:solidFill>
          <a:ln xmlns:a="http://schemas.openxmlformats.org/drawingml/2006/main" w="0">
            <a:solidFill>
              <a:srgbClr val="2575BA"/>
            </a:solidFill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E9445B05-0660-422B-8644-444A64D63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1514475"/>
            <a:ext cx="23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17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38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638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A7892312-E9B9-4822-94DC-9CEBABE93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390650"/>
            <a:ext cx="609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" tIns="9525" rIns="9525" bIns="9525" anchor="ctr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35" b="1">
                <a:solidFill>
                  <a:srgbClr val="0C315B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C315B"/>
                </a:solidFill>
                <a:latin typeface="DejaVu Sans"/>
                <a:ea typeface="DejaVu Sans"/>
                <a:cs typeface="DejaVu Sans"/>
              </a:rPr>
              <a:t>LOGIN</a:t>
            </a:r>
          </a:p>
        </p:txBody>
      </p:sp>
      <p:sp>
        <p:nvSpPr>
          <p:cNvPr id="16" name="Arrow: Right 15">
            <a:extLst xmlns:a="http://schemas.openxmlformats.org/drawingml/2006/main">
              <a:ext uri="{FF2B5EF4-FFF2-40B4-BE49-F238E27FC236}">
                <a16:creationId xmlns:a16="http://schemas.microsoft.com/office/drawing/2014/main" id="{11C52D50-1E4C-423D-BD86-2E20535B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552575"/>
            <a:ext cx="9525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75BA"/>
          </a:solidFill>
          <a:ln xmlns:a="http://schemas.openxmlformats.org/drawingml/2006/main" w="0">
            <a:solidFill>
              <a:srgbClr val="2575BA"/>
            </a:solidFill>
          </a:ln>
        </p:spPr>
      </p:sp>
      <p:sp>
        <p:nvSpPr>
          <p:cNvPr id="17" name="Rectangle: Rounded Corners 16">
            <a:extLst xmlns:a="http://schemas.openxmlformats.org/drawingml/2006/main">
              <a:ext uri="{FF2B5EF4-FFF2-40B4-BE49-F238E27FC236}">
                <a16:creationId xmlns:a16="http://schemas.microsoft.com/office/drawing/2014/main" id="{3443D6E6-B210-44AF-A469-717D8300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323975"/>
            <a:ext cx="971550" cy="619125"/>
          </a:xfrm>
          <a:prstGeom xmlns:a="http://schemas.openxmlformats.org/drawingml/2006/main" prst="roundRect">
            <a:avLst>
              <a:gd name="adj" fmla="val 16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2E3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F2B5E00B-E5AD-4A57-9BC9-BA80EB670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514475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75BA"/>
          </a:solidFill>
          <a:ln xmlns:a="http://schemas.openxmlformats.org/drawingml/2006/main" w="0">
            <a:solidFill>
              <a:srgbClr val="2575BA"/>
            </a:solidFill>
          </a:ln>
        </p:spPr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589194CF-E78A-4C05-B3AE-C40A8975F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514475"/>
            <a:ext cx="23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17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38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638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15355DBB-7B58-49C7-9446-9B5DB5178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1390650"/>
            <a:ext cx="609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" tIns="9525" rIns="9525" bIns="9525" anchor="ctr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35" b="1">
                <a:solidFill>
                  <a:srgbClr val="0C315B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C315B"/>
                </a:solidFill>
                <a:latin typeface="DejaVu Sans"/>
                <a:ea typeface="DejaVu Sans"/>
                <a:cs typeface="DejaVu Sans"/>
              </a:rPr>
              <a:t>PILIH K62/K70</a:t>
            </a:r>
          </a:p>
        </p:txBody>
      </p:sp>
      <p:sp>
        <p:nvSpPr>
          <p:cNvPr id="21" name="Arrow: Right 20">
            <a:extLst xmlns:a="http://schemas.openxmlformats.org/drawingml/2006/main">
              <a:ext uri="{FF2B5EF4-FFF2-40B4-BE49-F238E27FC236}">
                <a16:creationId xmlns:a16="http://schemas.microsoft.com/office/drawing/2014/main" id="{CEFD781C-0A39-4205-909C-ACBA2FB55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52575"/>
            <a:ext cx="9525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75BA"/>
          </a:solidFill>
          <a:ln xmlns:a="http://schemas.openxmlformats.org/drawingml/2006/main" w="0">
            <a:solidFill>
              <a:srgbClr val="2575BA"/>
            </a:solidFill>
          </a:ln>
        </p:spPr>
      </p:sp>
      <p:sp>
        <p:nvSpPr>
          <p:cNvPr id="22" name="Rectangle: Rounded Corners 21">
            <a:extLst xmlns:a="http://schemas.openxmlformats.org/drawingml/2006/main">
              <a:ext uri="{FF2B5EF4-FFF2-40B4-BE49-F238E27FC236}">
                <a16:creationId xmlns:a16="http://schemas.microsoft.com/office/drawing/2014/main" id="{D7445A6A-8E16-4B3C-8C5B-04D7AD30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323975"/>
            <a:ext cx="971550" cy="619125"/>
          </a:xfrm>
          <a:prstGeom xmlns:a="http://schemas.openxmlformats.org/drawingml/2006/main" prst="roundRect">
            <a:avLst>
              <a:gd name="adj" fmla="val 16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2E3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CE57AAE9-88FF-4502-9212-07B5DB383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514475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75BA"/>
          </a:solidFill>
          <a:ln xmlns:a="http://schemas.openxmlformats.org/drawingml/2006/main" w="0">
            <a:solidFill>
              <a:srgbClr val="2575BA"/>
            </a:solidFill>
          </a:ln>
        </p:spPr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E474AAC8-86C2-4612-B43E-6FF55F5BA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514475"/>
            <a:ext cx="23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17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38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638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D988BE5F-8D7A-49A5-B5AC-5674F0034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390650"/>
            <a:ext cx="609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" tIns="9525" rIns="9525" bIns="9525" anchor="ctr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35" b="1">
                <a:solidFill>
                  <a:srgbClr val="0C315B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C315B"/>
                </a:solidFill>
                <a:latin typeface="DejaVu Sans"/>
                <a:ea typeface="DejaVu Sans"/>
                <a:cs typeface="DejaVu Sans"/>
              </a:rPr>
              <a:t>CHECK STOCK</a:t>
            </a:r>
          </a:p>
        </p:txBody>
      </p:sp>
      <p:sp>
        <p:nvSpPr>
          <p:cNvPr id="26" name="Arrow: Right 25">
            <a:extLst xmlns:a="http://schemas.openxmlformats.org/drawingml/2006/main">
              <a:ext uri="{FF2B5EF4-FFF2-40B4-BE49-F238E27FC236}">
                <a16:creationId xmlns:a16="http://schemas.microsoft.com/office/drawing/2014/main" id="{F9C07105-80EC-4256-A0D8-3BB4CF759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1552575"/>
            <a:ext cx="9525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75BA"/>
          </a:solidFill>
          <a:ln xmlns:a="http://schemas.openxmlformats.org/drawingml/2006/main" w="0">
            <a:solidFill>
              <a:srgbClr val="2575BA"/>
            </a:solidFill>
          </a:ln>
        </p:spPr>
      </p:sp>
      <p:sp>
        <p:nvSpPr>
          <p:cNvPr id="27" name="Rectangle: Rounded Corners 26">
            <a:extLst xmlns:a="http://schemas.openxmlformats.org/drawingml/2006/main">
              <a:ext uri="{FF2B5EF4-FFF2-40B4-BE49-F238E27FC236}">
                <a16:creationId xmlns:a16="http://schemas.microsoft.com/office/drawing/2014/main" id="{F719D849-F046-4BFA-AC2D-0F003EB06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323975"/>
            <a:ext cx="971550" cy="619125"/>
          </a:xfrm>
          <a:prstGeom xmlns:a="http://schemas.openxmlformats.org/drawingml/2006/main" prst="roundRect">
            <a:avLst>
              <a:gd name="adj" fmla="val 16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2E3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8" name="Oval 27">
            <a:extLst xmlns:a="http://schemas.openxmlformats.org/drawingml/2006/main">
              <a:ext uri="{FF2B5EF4-FFF2-40B4-BE49-F238E27FC236}">
                <a16:creationId xmlns:a16="http://schemas.microsoft.com/office/drawing/2014/main" id="{819C468B-5678-40F7-B747-42F7A4E19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514475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75BA"/>
          </a:solidFill>
          <a:ln xmlns:a="http://schemas.openxmlformats.org/drawingml/2006/main" w="0">
            <a:solidFill>
              <a:srgbClr val="2575BA"/>
            </a:solidFill>
          </a:ln>
        </p:spPr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70924FC8-FAD3-4DEC-920A-EE8E9453F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514475"/>
            <a:ext cx="23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17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38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638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48E55D72-82DB-452D-9CE2-B6C2B7037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1390650"/>
            <a:ext cx="609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" tIns="9525" rIns="9525" bIns="9525" anchor="ctr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35" b="1">
                <a:solidFill>
                  <a:srgbClr val="0C315B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C315B"/>
                </a:solidFill>
                <a:latin typeface="DejaVu Sans"/>
                <a:ea typeface="DejaVu Sans"/>
                <a:cs typeface="DejaVu Sans"/>
              </a:rPr>
              <a:t>USE MATERIAL</a:t>
            </a:r>
          </a:p>
        </p:txBody>
      </p:sp>
      <p:sp>
        <p:nvSpPr>
          <p:cNvPr id="31" name="Arrow: Right 30">
            <a:extLst xmlns:a="http://schemas.openxmlformats.org/drawingml/2006/main">
              <a:ext uri="{FF2B5EF4-FFF2-40B4-BE49-F238E27FC236}">
                <a16:creationId xmlns:a16="http://schemas.microsoft.com/office/drawing/2014/main" id="{2CE388DA-6F96-4F26-B6DD-B523714E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552575"/>
            <a:ext cx="9525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6A42A"/>
          </a:solidFill>
          <a:ln xmlns:a="http://schemas.openxmlformats.org/drawingml/2006/main" w="0">
            <a:solidFill>
              <a:srgbClr val="E6A42A"/>
            </a:solidFill>
          </a:ln>
        </p:spPr>
      </p:sp>
      <p:sp>
        <p:nvSpPr>
          <p:cNvPr id="32" name="Rectangle: Rounded Corners 31">
            <a:extLst xmlns:a="http://schemas.openxmlformats.org/drawingml/2006/main">
              <a:ext uri="{FF2B5EF4-FFF2-40B4-BE49-F238E27FC236}">
                <a16:creationId xmlns:a16="http://schemas.microsoft.com/office/drawing/2014/main" id="{79DB355E-34A9-4BA7-91BE-DCC111707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323975"/>
            <a:ext cx="971550" cy="619125"/>
          </a:xfrm>
          <a:prstGeom xmlns:a="http://schemas.openxmlformats.org/drawingml/2006/main" prst="roundRect">
            <a:avLst>
              <a:gd name="adj" fmla="val 16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2E3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3" name="Oval 32">
            <a:extLst xmlns:a="http://schemas.openxmlformats.org/drawingml/2006/main">
              <a:ext uri="{FF2B5EF4-FFF2-40B4-BE49-F238E27FC236}">
                <a16:creationId xmlns:a16="http://schemas.microsoft.com/office/drawing/2014/main" id="{2844207B-6B5B-464A-A265-90762D59E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1514475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42A"/>
          </a:solidFill>
          <a:ln xmlns:a="http://schemas.openxmlformats.org/drawingml/2006/main" w="0">
            <a:solidFill>
              <a:srgbClr val="E6A42A"/>
            </a:solidFill>
          </a:ln>
        </p:spPr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B83472A4-3341-4483-98BA-4C8D0DF9F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1514475"/>
            <a:ext cx="23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17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38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638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84BE3794-1866-48F8-A390-CA5D2DC1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390650"/>
            <a:ext cx="609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" tIns="9525" rIns="9525" bIns="9525" anchor="ctr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35" b="1">
                <a:solidFill>
                  <a:srgbClr val="0C315B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C315B"/>
                </a:solidFill>
                <a:latin typeface="DejaVu Sans"/>
                <a:ea typeface="DejaVu Sans"/>
                <a:cs typeface="DejaVu Sans"/>
              </a:rPr>
              <a:t>REQUEST MATERIAL</a:t>
            </a:r>
          </a:p>
        </p:txBody>
      </p:sp>
      <p:sp>
        <p:nvSpPr>
          <p:cNvPr id="36" name="Rectangle: Rounded Corners 35">
            <a:extLst xmlns:a="http://schemas.openxmlformats.org/drawingml/2006/main">
              <a:ext uri="{FF2B5EF4-FFF2-40B4-BE49-F238E27FC236}">
                <a16:creationId xmlns:a16="http://schemas.microsoft.com/office/drawing/2014/main" id="{9BA72E3B-9F32-4F8E-8288-B1D6F9AD5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1143000"/>
            <a:ext cx="3848100" cy="9906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8D5E8"/>
            </a:solidFill>
            <a:prstDash val="solid"/>
          </a:ln>
        </p:spPr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B5F24D69-B0EC-4751-B2F7-A5217FDB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219200"/>
            <a:ext cx="3476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64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2575BA"/>
                </a:solidFill>
                <a:latin typeface="DejaVu Sans"/>
                <a:ea typeface="DejaVu Sans"/>
                <a:cs typeface="DejaVu Sans"/>
              </a:defRPr>
            </a:pPr>
            <a:r>
              <a:rPr sz="713" b="1">
                <a:solidFill>
                  <a:srgbClr val="2575BA"/>
                </a:solidFill>
                <a:latin typeface="DejaVu Sans"/>
                <a:ea typeface="DejaVu Sans"/>
                <a:cs typeface="DejaVu Sans"/>
              </a:rPr>
              <a:t>FUNGSI VIEWER</a:t>
            </a:r>
          </a:p>
        </p:txBody>
      </p:sp>
      <p:sp>
        <p:nvSpPr>
          <p:cNvPr id="38" name="Oval 37">
            <a:extLst xmlns:a="http://schemas.openxmlformats.org/drawingml/2006/main">
              <a:ext uri="{FF2B5EF4-FFF2-40B4-BE49-F238E27FC236}">
                <a16:creationId xmlns:a16="http://schemas.microsoft.com/office/drawing/2014/main" id="{F2EE4F81-512C-4BCA-8F52-9C41AE46A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485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75BA"/>
          </a:solidFill>
          <a:ln xmlns:a="http://schemas.openxmlformats.org/drawingml/2006/main" w="0">
            <a:solidFill>
              <a:srgbClr val="2575BA"/>
            </a:solidFill>
          </a:ln>
        </p:spPr>
      </p:sp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8CDCCAAC-70B0-4B6A-BAF3-9776F369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466850"/>
            <a:ext cx="13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5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58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58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✓</a:t>
            </a:r>
          </a:p>
        </p:txBody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C99F026B-6656-4E18-AA4C-C9B4590E6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1466850"/>
            <a:ext cx="3133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278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675" b="0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Melihat stock material</a:t>
            </a:r>
          </a:p>
        </p:txBody>
      </p:sp>
      <p:sp>
        <p:nvSpPr>
          <p:cNvPr id="41" name="Oval 40">
            <a:extLst xmlns:a="http://schemas.openxmlformats.org/drawingml/2006/main">
              <a:ext uri="{FF2B5EF4-FFF2-40B4-BE49-F238E27FC236}">
                <a16:creationId xmlns:a16="http://schemas.microsoft.com/office/drawing/2014/main" id="{6EE1FF3B-6284-466F-82A0-A11405919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764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75BA"/>
          </a:solidFill>
          <a:ln xmlns:a="http://schemas.openxmlformats.org/drawingml/2006/main" w="0">
            <a:solidFill>
              <a:srgbClr val="2575BA"/>
            </a:solidFill>
          </a:ln>
        </p:spPr>
      </p:sp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7CDB934B-A537-42F4-88F6-5BA235F39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57350"/>
            <a:ext cx="13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5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58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58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✓</a:t>
            </a:r>
          </a:p>
        </p:txBody>
      </p:sp>
      <p:sp>
        <p:nvSpPr>
          <p:cNvPr id="4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AB2CAC6A-A432-46E3-940F-CF1C5280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1657350"/>
            <a:ext cx="3133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278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675" b="0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USE dan REQUEST material</a:t>
            </a:r>
          </a:p>
        </p:txBody>
      </p:sp>
      <p:sp>
        <p:nvSpPr>
          <p:cNvPr id="44" name="Oval 43">
            <a:extLst xmlns:a="http://schemas.openxmlformats.org/drawingml/2006/main">
              <a:ext uri="{FF2B5EF4-FFF2-40B4-BE49-F238E27FC236}">
                <a16:creationId xmlns:a16="http://schemas.microsoft.com/office/drawing/2014/main" id="{CF39B07B-743F-412B-BD5A-E91BEB3B3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66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75BA"/>
          </a:solidFill>
          <a:ln xmlns:a="http://schemas.openxmlformats.org/drawingml/2006/main" w="0">
            <a:solidFill>
              <a:srgbClr val="2575BA"/>
            </a:solidFill>
          </a:ln>
        </p:spPr>
      </p:sp>
      <p:sp>
        <p:nvSpPr>
          <p:cNvPr id="45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9C14E141-FD72-44D1-B8CB-8C14E33CE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47850"/>
            <a:ext cx="13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5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58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58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✓</a:t>
            </a:r>
          </a:p>
        </p:txBody>
      </p:sp>
      <p:sp>
        <p:nvSpPr>
          <p:cNvPr id="46" name="Rectangle 45">
            <a:extLst xmlns:a="http://schemas.openxmlformats.org/drawingml/2006/main">
              <a:ext uri="{FF2B5EF4-FFF2-40B4-BE49-F238E27FC236}">
                <a16:creationId xmlns:a16="http://schemas.microsoft.com/office/drawing/2014/main" id="{98424BFC-911D-4BE8-A79C-5E0AF514F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1847850"/>
            <a:ext cx="3133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278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675" b="0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Melihat ARMATURE RUNNING</a:t>
            </a:r>
          </a:p>
        </p:txBody>
      </p:sp>
      <p:sp>
        <p:nvSpPr>
          <p:cNvPr id="47" name="Rectangle: Rounded Corners 46">
            <a:extLst xmlns:a="http://schemas.openxmlformats.org/drawingml/2006/main">
              <a:ext uri="{FF2B5EF4-FFF2-40B4-BE49-F238E27FC236}">
                <a16:creationId xmlns:a16="http://schemas.microsoft.com/office/drawing/2014/main" id="{3B242023-2DC5-40C0-B9A7-294D5D09F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543175"/>
            <a:ext cx="1666875" cy="1085850"/>
          </a:xfrm>
          <a:prstGeom xmlns:a="http://schemas.openxmlformats.org/drawingml/2006/main" prst="roundRect">
            <a:avLst>
              <a:gd name="adj" fmla="val 122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0C315B"/>
            </a:solidFill>
            <a:prstDash val="solid"/>
          </a:ln>
        </p:spPr>
      </p:sp>
      <p:sp>
        <p:nvSpPr>
          <p:cNvPr id="48" name="Rectangle 47">
            <a:extLst xmlns:a="http://schemas.openxmlformats.org/drawingml/2006/main">
              <a:ext uri="{FF2B5EF4-FFF2-40B4-BE49-F238E27FC236}">
                <a16:creationId xmlns:a16="http://schemas.microsoft.com/office/drawing/2014/main" id="{832BE1E1-15BD-417D-AF85-63ACDA602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479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06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C315B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0C315B"/>
                </a:solidFill>
                <a:latin typeface="DejaVu Sans"/>
                <a:ea typeface="DejaVu Sans"/>
                <a:cs typeface="DejaVu Sans"/>
              </a:rPr>
              <a:t>ARMATURE LINE BOP</a:t>
            </a:r>
          </a:p>
        </p:txBody>
      </p:sp>
      <p:sp>
        <p:nvSpPr>
          <p:cNvPr id="49" name="Rectangle 48">
            <a:extLst xmlns:a="http://schemas.openxmlformats.org/drawingml/2006/main">
              <a:ext uri="{FF2B5EF4-FFF2-40B4-BE49-F238E27FC236}">
                <a16:creationId xmlns:a16="http://schemas.microsoft.com/office/drawing/2014/main" id="{7434D06D-17B3-4101-89DF-65A351AF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05125"/>
            <a:ext cx="13811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76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60" b="1">
                <a:solidFill>
                  <a:srgbClr val="0C315B"/>
                </a:solidFill>
                <a:latin typeface="DejaVu Sans"/>
                <a:ea typeface="DejaVu Sans"/>
                <a:cs typeface="DejaVu Sans"/>
              </a:defRPr>
            </a:pPr>
            <a:r>
              <a:rPr sz="660" b="1">
                <a:solidFill>
                  <a:srgbClr val="0C315B"/>
                </a:solidFill>
                <a:latin typeface="DejaVu Sans"/>
                <a:ea typeface="DejaVu Sans"/>
                <a:cs typeface="DejaVu Sans"/>
              </a:rPr>
              <a:t>SUPPLY</a:t>
            </a:r>
          </a:p>
        </p:txBody>
      </p:sp>
      <p:sp>
        <p:nvSpPr>
          <p:cNvPr id="50" name="Rectangle 49">
            <a:extLst xmlns:a="http://schemas.openxmlformats.org/drawingml/2006/main">
              <a:ext uri="{FF2B5EF4-FFF2-40B4-BE49-F238E27FC236}">
                <a16:creationId xmlns:a16="http://schemas.microsoft.com/office/drawing/2014/main" id="{1C576792-3C7D-4549-9F0F-F21610A27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3372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00" b="0">
                <a:solidFill>
                  <a:srgbClr val="617A91"/>
                </a:solidFill>
                <a:latin typeface="DejaVu Sans"/>
                <a:ea typeface="DejaVu Sans"/>
                <a:cs typeface="DejaVu Sans"/>
              </a:defRPr>
            </a:pPr>
            <a:r>
              <a:rPr sz="600" b="0">
                <a:solidFill>
                  <a:srgbClr val="617A91"/>
                </a:solidFill>
                <a:latin typeface="DejaVu Sans"/>
                <a:ea typeface="DejaVu Sans"/>
                <a:cs typeface="DejaVu Sans"/>
              </a:rPr>
              <a:t>Handle request and actual stock</a:t>
            </a:r>
          </a:p>
        </p:txBody>
      </p:sp>
      <p:sp>
        <p:nvSpPr>
          <p:cNvPr id="51" name="Rectangle: Rounded Corners 50">
            <a:extLst xmlns:a="http://schemas.openxmlformats.org/drawingml/2006/main">
              <a:ext uri="{FF2B5EF4-FFF2-40B4-BE49-F238E27FC236}">
                <a16:creationId xmlns:a16="http://schemas.microsoft.com/office/drawing/2014/main" id="{92657FDB-3CBB-4A22-9CDB-63337F6B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743200"/>
            <a:ext cx="971550" cy="619125"/>
          </a:xfrm>
          <a:prstGeom xmlns:a="http://schemas.openxmlformats.org/drawingml/2006/main" prst="roundRect">
            <a:avLst>
              <a:gd name="adj" fmla="val 16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2E3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2" name="Oval 51">
            <a:extLst xmlns:a="http://schemas.openxmlformats.org/drawingml/2006/main">
              <a:ext uri="{FF2B5EF4-FFF2-40B4-BE49-F238E27FC236}">
                <a16:creationId xmlns:a16="http://schemas.microsoft.com/office/drawing/2014/main" id="{84A772DB-6945-4EEB-B529-5DF694111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93370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315B"/>
          </a:solidFill>
          <a:ln xmlns:a="http://schemas.openxmlformats.org/drawingml/2006/main" w="0">
            <a:solidFill>
              <a:srgbClr val="0C315B"/>
            </a:solidFill>
          </a:ln>
        </p:spPr>
      </p:sp>
      <p:sp>
        <p:nvSpPr>
          <p:cNvPr id="53" name="Rectangle 52">
            <a:extLst xmlns:a="http://schemas.openxmlformats.org/drawingml/2006/main">
              <a:ext uri="{FF2B5EF4-FFF2-40B4-BE49-F238E27FC236}">
                <a16:creationId xmlns:a16="http://schemas.microsoft.com/office/drawing/2014/main" id="{B6DD7F59-4DF8-4463-A365-42B8D6CFA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933700"/>
            <a:ext cx="23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17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38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638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54" name="Rectangle 53">
            <a:extLst xmlns:a="http://schemas.openxmlformats.org/drawingml/2006/main">
              <a:ext uri="{FF2B5EF4-FFF2-40B4-BE49-F238E27FC236}">
                <a16:creationId xmlns:a16="http://schemas.microsoft.com/office/drawing/2014/main" id="{736439AF-2FCC-428C-B267-3BFC5C91D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809875"/>
            <a:ext cx="609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" tIns="9525" rIns="9525" bIns="9525" anchor="ctr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35" b="1">
                <a:solidFill>
                  <a:srgbClr val="0C315B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C315B"/>
                </a:solidFill>
                <a:latin typeface="DejaVu Sans"/>
                <a:ea typeface="DejaVu Sans"/>
                <a:cs typeface="DejaVu Sans"/>
              </a:rPr>
              <a:t>LOGIN</a:t>
            </a:r>
          </a:p>
        </p:txBody>
      </p:sp>
      <p:sp>
        <p:nvSpPr>
          <p:cNvPr id="55" name="Arrow: Right 54">
            <a:extLst xmlns:a="http://schemas.openxmlformats.org/drawingml/2006/main">
              <a:ext uri="{FF2B5EF4-FFF2-40B4-BE49-F238E27FC236}">
                <a16:creationId xmlns:a16="http://schemas.microsoft.com/office/drawing/2014/main" id="{46E091D6-8468-4790-9A6A-4631D6CDF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971800"/>
            <a:ext cx="9525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C315B"/>
          </a:solidFill>
          <a:ln xmlns:a="http://schemas.openxmlformats.org/drawingml/2006/main" w="0">
            <a:solidFill>
              <a:srgbClr val="0C315B"/>
            </a:solidFill>
          </a:ln>
        </p:spPr>
      </p:sp>
      <p:sp>
        <p:nvSpPr>
          <p:cNvPr id="56" name="Rectangle: Rounded Corners 55">
            <a:extLst xmlns:a="http://schemas.openxmlformats.org/drawingml/2006/main">
              <a:ext uri="{FF2B5EF4-FFF2-40B4-BE49-F238E27FC236}">
                <a16:creationId xmlns:a16="http://schemas.microsoft.com/office/drawing/2014/main" id="{4C1F6094-76CF-41E9-95EA-86280B9DA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743200"/>
            <a:ext cx="971550" cy="619125"/>
          </a:xfrm>
          <a:prstGeom xmlns:a="http://schemas.openxmlformats.org/drawingml/2006/main" prst="roundRect">
            <a:avLst>
              <a:gd name="adj" fmla="val 16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2E3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7" name="Oval 56">
            <a:extLst xmlns:a="http://schemas.openxmlformats.org/drawingml/2006/main">
              <a:ext uri="{FF2B5EF4-FFF2-40B4-BE49-F238E27FC236}">
                <a16:creationId xmlns:a16="http://schemas.microsoft.com/office/drawing/2014/main" id="{0B012BDC-6A88-4DF7-A82A-29DBBE4F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93370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315B"/>
          </a:solidFill>
          <a:ln xmlns:a="http://schemas.openxmlformats.org/drawingml/2006/main" w="0">
            <a:solidFill>
              <a:srgbClr val="0C315B"/>
            </a:solidFill>
          </a:ln>
        </p:spPr>
      </p:sp>
      <p:sp>
        <p:nvSpPr>
          <p:cNvPr id="58" name="Rectangle 57">
            <a:extLst xmlns:a="http://schemas.openxmlformats.org/drawingml/2006/main">
              <a:ext uri="{FF2B5EF4-FFF2-40B4-BE49-F238E27FC236}">
                <a16:creationId xmlns:a16="http://schemas.microsoft.com/office/drawing/2014/main" id="{B93A4626-1087-4B31-90F2-FF4E944F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933700"/>
            <a:ext cx="23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17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38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638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59" name="Rectangle 58">
            <a:extLst xmlns:a="http://schemas.openxmlformats.org/drawingml/2006/main">
              <a:ext uri="{FF2B5EF4-FFF2-40B4-BE49-F238E27FC236}">
                <a16:creationId xmlns:a16="http://schemas.microsoft.com/office/drawing/2014/main" id="{F7FD64F6-9929-4935-9C59-3958633D6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809875"/>
            <a:ext cx="6381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" tIns="9525" rIns="9525" bIns="9525" anchor="ctr">
            <a:normAutofit fontScale="100000" lnSpcReduction="2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35" b="1">
                <a:solidFill>
                  <a:srgbClr val="0C315B"/>
                </a:solidFill>
                <a:latin typeface="DejaVu Sans"/>
                <a:ea typeface="DejaVu Sans"/>
                <a:cs typeface="DejaVu Sans"/>
              </a:defRPr>
            </a:pPr>
            <a:r>
              <a:rPr sz="638" b="1">
                <a:solidFill>
                  <a:srgbClr val="0C315B"/>
                </a:solidFill>
                <a:latin typeface="DejaVu Sans"/>
                <a:ea typeface="DejaVu Sans"/>
                <a:cs typeface="DejaVu Sans"/>
              </a:rPr>
              <a:t>DASHBOARD</a:t>
            </a:r>
          </a:p>
        </p:txBody>
      </p:sp>
      <p:sp>
        <p:nvSpPr>
          <p:cNvPr id="60" name="Arrow: Right 59">
            <a:extLst xmlns:a="http://schemas.openxmlformats.org/drawingml/2006/main">
              <a:ext uri="{FF2B5EF4-FFF2-40B4-BE49-F238E27FC236}">
                <a16:creationId xmlns:a16="http://schemas.microsoft.com/office/drawing/2014/main" id="{8232F1DD-157D-47A4-8212-440598F4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971800"/>
            <a:ext cx="9525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C315B"/>
          </a:solidFill>
          <a:ln xmlns:a="http://schemas.openxmlformats.org/drawingml/2006/main" w="0">
            <a:solidFill>
              <a:srgbClr val="0C315B"/>
            </a:solidFill>
          </a:ln>
        </p:spPr>
      </p:sp>
      <p:sp>
        <p:nvSpPr>
          <p:cNvPr id="61" name="Rectangle: Rounded Corners 60">
            <a:extLst xmlns:a="http://schemas.openxmlformats.org/drawingml/2006/main">
              <a:ext uri="{FF2B5EF4-FFF2-40B4-BE49-F238E27FC236}">
                <a16:creationId xmlns:a16="http://schemas.microsoft.com/office/drawing/2014/main" id="{98E3BD3A-DAED-497C-ADC3-64371B13F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743200"/>
            <a:ext cx="971550" cy="619125"/>
          </a:xfrm>
          <a:prstGeom xmlns:a="http://schemas.openxmlformats.org/drawingml/2006/main" prst="roundRect">
            <a:avLst>
              <a:gd name="adj" fmla="val 16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2E3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62" name="Oval 61">
            <a:extLst xmlns:a="http://schemas.openxmlformats.org/drawingml/2006/main">
              <a:ext uri="{FF2B5EF4-FFF2-40B4-BE49-F238E27FC236}">
                <a16:creationId xmlns:a16="http://schemas.microsoft.com/office/drawing/2014/main" id="{32AF0672-953B-470E-881D-886C1CBC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93370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315B"/>
          </a:solidFill>
          <a:ln xmlns:a="http://schemas.openxmlformats.org/drawingml/2006/main" w="0">
            <a:solidFill>
              <a:srgbClr val="0C315B"/>
            </a:solidFill>
          </a:ln>
        </p:spPr>
      </p:sp>
      <p:sp>
        <p:nvSpPr>
          <p:cNvPr id="63" name="Rectangle 62">
            <a:extLst xmlns:a="http://schemas.openxmlformats.org/drawingml/2006/main">
              <a:ext uri="{FF2B5EF4-FFF2-40B4-BE49-F238E27FC236}">
                <a16:creationId xmlns:a16="http://schemas.microsoft.com/office/drawing/2014/main" id="{D1C61EAE-5643-4BD0-ACA7-644A53080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933700"/>
            <a:ext cx="23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17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38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638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64" name="Rectangle 63">
            <a:extLst xmlns:a="http://schemas.openxmlformats.org/drawingml/2006/main">
              <a:ext uri="{FF2B5EF4-FFF2-40B4-BE49-F238E27FC236}">
                <a16:creationId xmlns:a16="http://schemas.microsoft.com/office/drawing/2014/main" id="{D39C2E5C-4662-4820-BF26-D37ACEE7E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809875"/>
            <a:ext cx="609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" tIns="9525" rIns="9525" bIns="9525" anchor="ctr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35" b="1">
                <a:solidFill>
                  <a:srgbClr val="0C315B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C315B"/>
                </a:solidFill>
                <a:latin typeface="DejaVu Sans"/>
                <a:ea typeface="DejaVu Sans"/>
                <a:cs typeface="DejaVu Sans"/>
              </a:rPr>
              <a:t>REQUEST RECEIVED</a:t>
            </a:r>
          </a:p>
        </p:txBody>
      </p:sp>
      <p:sp>
        <p:nvSpPr>
          <p:cNvPr id="65" name="Arrow: Right 64">
            <a:extLst xmlns:a="http://schemas.openxmlformats.org/drawingml/2006/main">
              <a:ext uri="{FF2B5EF4-FFF2-40B4-BE49-F238E27FC236}">
                <a16:creationId xmlns:a16="http://schemas.microsoft.com/office/drawing/2014/main" id="{58CC8507-A9D9-4AA2-9A6C-44C4E6BEB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971800"/>
            <a:ext cx="9525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6A42A"/>
          </a:solidFill>
          <a:ln xmlns:a="http://schemas.openxmlformats.org/drawingml/2006/main" w="0">
            <a:solidFill>
              <a:srgbClr val="E6A42A"/>
            </a:solidFill>
          </a:ln>
        </p:spPr>
      </p:sp>
      <p:sp>
        <p:nvSpPr>
          <p:cNvPr id="66" name="Rectangle: Rounded Corners 65">
            <a:extLst xmlns:a="http://schemas.openxmlformats.org/drawingml/2006/main">
              <a:ext uri="{FF2B5EF4-FFF2-40B4-BE49-F238E27FC236}">
                <a16:creationId xmlns:a16="http://schemas.microsoft.com/office/drawing/2014/main" id="{FF8AA35A-B829-4C1F-B0E5-A94DA0573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743200"/>
            <a:ext cx="971550" cy="619125"/>
          </a:xfrm>
          <a:prstGeom xmlns:a="http://schemas.openxmlformats.org/drawingml/2006/main" prst="roundRect">
            <a:avLst>
              <a:gd name="adj" fmla="val 16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2E3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67" name="Oval 66">
            <a:extLst xmlns:a="http://schemas.openxmlformats.org/drawingml/2006/main">
              <a:ext uri="{FF2B5EF4-FFF2-40B4-BE49-F238E27FC236}">
                <a16:creationId xmlns:a16="http://schemas.microsoft.com/office/drawing/2014/main" id="{636A35ED-40F0-4945-81EE-F21D1CE1C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3370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315B"/>
          </a:solidFill>
          <a:ln xmlns:a="http://schemas.openxmlformats.org/drawingml/2006/main" w="0">
            <a:solidFill>
              <a:srgbClr val="0C315B"/>
            </a:solidFill>
          </a:ln>
        </p:spPr>
      </p:sp>
      <p:sp>
        <p:nvSpPr>
          <p:cNvPr id="68" name="Rectangle 67">
            <a:extLst xmlns:a="http://schemas.openxmlformats.org/drawingml/2006/main">
              <a:ext uri="{FF2B5EF4-FFF2-40B4-BE49-F238E27FC236}">
                <a16:creationId xmlns:a16="http://schemas.microsoft.com/office/drawing/2014/main" id="{1ED4F441-D32A-425E-975C-ED23A2CD1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33700"/>
            <a:ext cx="23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17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38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638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69" name="Rectangle 68">
            <a:extLst xmlns:a="http://schemas.openxmlformats.org/drawingml/2006/main">
              <a:ext uri="{FF2B5EF4-FFF2-40B4-BE49-F238E27FC236}">
                <a16:creationId xmlns:a16="http://schemas.microsoft.com/office/drawing/2014/main" id="{D64332B2-7F68-4C71-BCCB-6A6925787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809875"/>
            <a:ext cx="609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" tIns="9525" rIns="9525" bIns="9525" anchor="ctr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35" b="1">
                <a:solidFill>
                  <a:srgbClr val="0C315B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C315B"/>
                </a:solidFill>
                <a:latin typeface="DejaVu Sans"/>
                <a:ea typeface="DejaVu Sans"/>
                <a:cs typeface="DejaVu Sans"/>
              </a:rPr>
              <a:t>PROCESS REQUEST</a:t>
            </a:r>
          </a:p>
        </p:txBody>
      </p:sp>
      <p:sp>
        <p:nvSpPr>
          <p:cNvPr id="70" name="Arrow: Right 69">
            <a:extLst xmlns:a="http://schemas.openxmlformats.org/drawingml/2006/main">
              <a:ext uri="{FF2B5EF4-FFF2-40B4-BE49-F238E27FC236}">
                <a16:creationId xmlns:a16="http://schemas.microsoft.com/office/drawing/2014/main" id="{1FB0B9F8-88E5-45BD-AAD9-161D5E66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71800"/>
            <a:ext cx="9525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C315B"/>
          </a:solidFill>
          <a:ln xmlns:a="http://schemas.openxmlformats.org/drawingml/2006/main" w="0">
            <a:solidFill>
              <a:srgbClr val="0C315B"/>
            </a:solidFill>
          </a:ln>
        </p:spPr>
      </p:sp>
      <p:sp>
        <p:nvSpPr>
          <p:cNvPr id="71" name="Rectangle: Rounded Corners 70">
            <a:extLst xmlns:a="http://schemas.openxmlformats.org/drawingml/2006/main">
              <a:ext uri="{FF2B5EF4-FFF2-40B4-BE49-F238E27FC236}">
                <a16:creationId xmlns:a16="http://schemas.microsoft.com/office/drawing/2014/main" id="{67CF23D6-86C3-4A64-8966-FC8C1ADC0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743200"/>
            <a:ext cx="971550" cy="619125"/>
          </a:xfrm>
          <a:prstGeom xmlns:a="http://schemas.openxmlformats.org/drawingml/2006/main" prst="roundRect">
            <a:avLst>
              <a:gd name="adj" fmla="val 16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2E3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2" name="Oval 71">
            <a:extLst xmlns:a="http://schemas.openxmlformats.org/drawingml/2006/main">
              <a:ext uri="{FF2B5EF4-FFF2-40B4-BE49-F238E27FC236}">
                <a16:creationId xmlns:a16="http://schemas.microsoft.com/office/drawing/2014/main" id="{99F6A93B-EDC9-48B3-842F-288C5BC7D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93370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315B"/>
          </a:solidFill>
          <a:ln xmlns:a="http://schemas.openxmlformats.org/drawingml/2006/main" w="0">
            <a:solidFill>
              <a:srgbClr val="0C315B"/>
            </a:solidFill>
          </a:ln>
        </p:spPr>
      </p:sp>
      <p:sp>
        <p:nvSpPr>
          <p:cNvPr id="73" name="Rectangle 72">
            <a:extLst xmlns:a="http://schemas.openxmlformats.org/drawingml/2006/main">
              <a:ext uri="{FF2B5EF4-FFF2-40B4-BE49-F238E27FC236}">
                <a16:creationId xmlns:a16="http://schemas.microsoft.com/office/drawing/2014/main" id="{32825239-9FC6-4C9B-99B4-8945A0BE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933700"/>
            <a:ext cx="23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17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38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638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74" name="Rectangle 73">
            <a:extLst xmlns:a="http://schemas.openxmlformats.org/drawingml/2006/main">
              <a:ext uri="{FF2B5EF4-FFF2-40B4-BE49-F238E27FC236}">
                <a16:creationId xmlns:a16="http://schemas.microsoft.com/office/drawing/2014/main" id="{F9669667-1513-4592-8F0B-3946D82AE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809875"/>
            <a:ext cx="609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" tIns="9525" rIns="9525" bIns="9525" anchor="ctr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35" b="1">
                <a:solidFill>
                  <a:srgbClr val="0C315B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C315B"/>
                </a:solidFill>
                <a:latin typeface="DejaVu Sans"/>
                <a:ea typeface="DejaVu Sans"/>
                <a:cs typeface="DejaVu Sans"/>
              </a:rPr>
              <a:t>UPDATE STOCK</a:t>
            </a:r>
          </a:p>
        </p:txBody>
      </p:sp>
      <p:sp>
        <p:nvSpPr>
          <p:cNvPr id="75" name="Rectangle: Rounded Corners 74">
            <a:extLst xmlns:a="http://schemas.openxmlformats.org/drawingml/2006/main">
              <a:ext uri="{FF2B5EF4-FFF2-40B4-BE49-F238E27FC236}">
                <a16:creationId xmlns:a16="http://schemas.microsoft.com/office/drawing/2014/main" id="{08A3480F-F7DB-428D-A487-9898A6685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429000"/>
            <a:ext cx="64770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0478">
            <a:solidFill>
              <a:srgbClr val="F0CA7B"/>
            </a:solidFill>
            <a:prstDash val="solid"/>
          </a:ln>
        </p:spPr>
      </p:sp>
      <p:sp>
        <p:nvSpPr>
          <p:cNvPr id="76" name="Rectangle 75">
            <a:extLst xmlns:a="http://schemas.openxmlformats.org/drawingml/2006/main">
              <a:ext uri="{FF2B5EF4-FFF2-40B4-BE49-F238E27FC236}">
                <a16:creationId xmlns:a16="http://schemas.microsoft.com/office/drawing/2014/main" id="{21345F5C-943B-46BC-8157-D6C60FA4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429000"/>
            <a:ext cx="647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53" b="1">
                <a:solidFill>
                  <a:srgbClr val="8F5A09"/>
                </a:solidFill>
                <a:latin typeface="DejaVu Sans"/>
                <a:ea typeface="DejaVu Sans"/>
                <a:cs typeface="DejaVu Sans"/>
              </a:defRPr>
            </a:pPr>
            <a:r>
              <a:rPr sz="653" b="1">
                <a:solidFill>
                  <a:srgbClr val="8F5A09"/>
                </a:solidFill>
                <a:latin typeface="DejaVu Sans"/>
                <a:ea typeface="DejaVu Sans"/>
                <a:cs typeface="DejaVu Sans"/>
              </a:rPr>
              <a:t>PENDING</a:t>
            </a:r>
          </a:p>
        </p:txBody>
      </p:sp>
      <p:sp>
        <p:nvSpPr>
          <p:cNvPr id="77" name="Rectangle: Rounded Corners 76">
            <a:extLst xmlns:a="http://schemas.openxmlformats.org/drawingml/2006/main">
              <a:ext uri="{FF2B5EF4-FFF2-40B4-BE49-F238E27FC236}">
                <a16:creationId xmlns:a16="http://schemas.microsoft.com/office/drawing/2014/main" id="{B7A7253F-F18D-4EA0-A799-AA680F025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429000"/>
            <a:ext cx="68580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0478">
            <a:solidFill>
              <a:srgbClr val="F0CA7B"/>
            </a:solidFill>
            <a:prstDash val="solid"/>
          </a:ln>
        </p:spPr>
      </p:sp>
      <p:sp>
        <p:nvSpPr>
          <p:cNvPr id="78" name="Rectangle 77">
            <a:extLst xmlns:a="http://schemas.openxmlformats.org/drawingml/2006/main">
              <a:ext uri="{FF2B5EF4-FFF2-40B4-BE49-F238E27FC236}">
                <a16:creationId xmlns:a16="http://schemas.microsoft.com/office/drawing/2014/main" id="{C92F14FD-FC7E-4A08-885E-91606E8EB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429000"/>
            <a:ext cx="685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53" b="1">
                <a:solidFill>
                  <a:srgbClr val="8F5A09"/>
                </a:solidFill>
                <a:latin typeface="DejaVu Sans"/>
                <a:ea typeface="DejaVu Sans"/>
                <a:cs typeface="DejaVu Sans"/>
              </a:defRPr>
            </a:pPr>
            <a:r>
              <a:rPr sz="653" b="1">
                <a:solidFill>
                  <a:srgbClr val="8F5A09"/>
                </a:solidFill>
                <a:latin typeface="DejaVu Sans"/>
                <a:ea typeface="DejaVu Sans"/>
                <a:cs typeface="DejaVu Sans"/>
              </a:rPr>
              <a:t>ONGOING</a:t>
            </a:r>
          </a:p>
        </p:txBody>
      </p:sp>
      <p:sp>
        <p:nvSpPr>
          <p:cNvPr id="79" name="Rectangle: Rounded Corners 78">
            <a:extLst xmlns:a="http://schemas.openxmlformats.org/drawingml/2006/main">
              <a:ext uri="{FF2B5EF4-FFF2-40B4-BE49-F238E27FC236}">
                <a16:creationId xmlns:a16="http://schemas.microsoft.com/office/drawing/2014/main" id="{393F8FB9-A275-4D62-8BAD-1931D6C88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429000"/>
            <a:ext cx="523875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F7EF"/>
          </a:solidFill>
          <a:ln xmlns:a="http://schemas.openxmlformats.org/drawingml/2006/main" w="10478">
            <a:solidFill>
              <a:srgbClr val="A8E4CE"/>
            </a:solidFill>
            <a:prstDash val="solid"/>
          </a:ln>
        </p:spPr>
      </p:sp>
      <p:sp>
        <p:nvSpPr>
          <p:cNvPr id="80" name="Rectangle 79">
            <a:extLst xmlns:a="http://schemas.openxmlformats.org/drawingml/2006/main">
              <a:ext uri="{FF2B5EF4-FFF2-40B4-BE49-F238E27FC236}">
                <a16:creationId xmlns:a16="http://schemas.microsoft.com/office/drawing/2014/main" id="{ED16E6D5-AB6C-46A5-BE04-1FDA210D5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429000"/>
            <a:ext cx="523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53" b="1">
                <a:solidFill>
                  <a:srgbClr val="0A7E59"/>
                </a:solidFill>
                <a:latin typeface="DejaVu Sans"/>
                <a:ea typeface="DejaVu Sans"/>
                <a:cs typeface="DejaVu Sans"/>
              </a:defRPr>
            </a:pPr>
            <a:r>
              <a:rPr sz="653" b="1">
                <a:solidFill>
                  <a:srgbClr val="0A7E59"/>
                </a:solidFill>
                <a:latin typeface="DejaVu Sans"/>
                <a:ea typeface="DejaVu Sans"/>
                <a:cs typeface="DejaVu Sans"/>
              </a:rPr>
              <a:t>DONE</a:t>
            </a:r>
          </a:p>
        </p:txBody>
      </p:sp>
      <p:sp>
        <p:nvSpPr>
          <p:cNvPr id="81" name="Rectangle: Rounded Corners 80">
            <a:extLst xmlns:a="http://schemas.openxmlformats.org/drawingml/2006/main">
              <a:ext uri="{FF2B5EF4-FFF2-40B4-BE49-F238E27FC236}">
                <a16:creationId xmlns:a16="http://schemas.microsoft.com/office/drawing/2014/main" id="{3354CF18-5778-46FC-A27D-64586A73D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543175"/>
            <a:ext cx="3848100" cy="1085850"/>
          </a:xfrm>
          <a:prstGeom xmlns:a="http://schemas.openxmlformats.org/drawingml/2006/main" prst="roundRect">
            <a:avLst>
              <a:gd name="adj" fmla="val 122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8D5E8"/>
            </a:solidFill>
            <a:prstDash val="solid"/>
          </a:ln>
        </p:spPr>
      </p:sp>
      <p:sp>
        <p:nvSpPr>
          <p:cNvPr id="82" name="Rectangle 81">
            <a:extLst xmlns:a="http://schemas.openxmlformats.org/drawingml/2006/main">
              <a:ext uri="{FF2B5EF4-FFF2-40B4-BE49-F238E27FC236}">
                <a16:creationId xmlns:a16="http://schemas.microsoft.com/office/drawing/2014/main" id="{50A34A4A-21EC-40A3-BC6F-6FFC08352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19375"/>
            <a:ext cx="3476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64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0C315B"/>
                </a:solidFill>
                <a:latin typeface="DejaVu Sans"/>
                <a:ea typeface="DejaVu Sans"/>
                <a:cs typeface="DejaVu Sans"/>
              </a:defRPr>
            </a:pPr>
            <a:r>
              <a:rPr sz="713" b="1">
                <a:solidFill>
                  <a:srgbClr val="0C315B"/>
                </a:solidFill>
                <a:latin typeface="DejaVu Sans"/>
                <a:ea typeface="DejaVu Sans"/>
                <a:cs typeface="DejaVu Sans"/>
              </a:rPr>
              <a:t>FUNGSI BOP</a:t>
            </a:r>
          </a:p>
        </p:txBody>
      </p:sp>
      <p:sp>
        <p:nvSpPr>
          <p:cNvPr id="83" name="Oval 82">
            <a:extLst xmlns:a="http://schemas.openxmlformats.org/drawingml/2006/main">
              <a:ext uri="{FF2B5EF4-FFF2-40B4-BE49-F238E27FC236}">
                <a16:creationId xmlns:a16="http://schemas.microsoft.com/office/drawing/2014/main" id="{25FBE8A6-0E26-4DE7-92CD-D1A2CA0FF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765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315B"/>
          </a:solidFill>
          <a:ln xmlns:a="http://schemas.openxmlformats.org/drawingml/2006/main" w="0">
            <a:solidFill>
              <a:srgbClr val="0C315B"/>
            </a:solidFill>
          </a:ln>
        </p:spPr>
      </p:sp>
      <p:sp>
        <p:nvSpPr>
          <p:cNvPr id="84" name="Rectangle 83">
            <a:extLst xmlns:a="http://schemas.openxmlformats.org/drawingml/2006/main">
              <a:ext uri="{FF2B5EF4-FFF2-40B4-BE49-F238E27FC236}">
                <a16:creationId xmlns:a16="http://schemas.microsoft.com/office/drawing/2014/main" id="{8B46EC11-DECA-4CDC-B85A-121ECEE9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57500"/>
            <a:ext cx="13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5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58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58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✓</a:t>
            </a:r>
          </a:p>
        </p:txBody>
      </p:sp>
      <p:sp>
        <p:nvSpPr>
          <p:cNvPr id="85" name="Rectangle 84">
            <a:extLst xmlns:a="http://schemas.openxmlformats.org/drawingml/2006/main">
              <a:ext uri="{FF2B5EF4-FFF2-40B4-BE49-F238E27FC236}">
                <a16:creationId xmlns:a16="http://schemas.microsoft.com/office/drawing/2014/main" id="{9A0A0708-D8FB-4F87-B043-ADE93B2D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857500"/>
            <a:ext cx="3133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278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675" b="0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Monitoring stock</a:t>
            </a:r>
          </a:p>
        </p:txBody>
      </p:sp>
      <p:sp>
        <p:nvSpPr>
          <p:cNvPr id="86" name="Oval 85">
            <a:extLst xmlns:a="http://schemas.openxmlformats.org/drawingml/2006/main">
              <a:ext uri="{FF2B5EF4-FFF2-40B4-BE49-F238E27FC236}">
                <a16:creationId xmlns:a16="http://schemas.microsoft.com/office/drawing/2014/main" id="{75F46708-5D55-41B9-9481-C0EBD781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575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315B"/>
          </a:solidFill>
          <a:ln xmlns:a="http://schemas.openxmlformats.org/drawingml/2006/main" w="0">
            <a:solidFill>
              <a:srgbClr val="0C315B"/>
            </a:solidFill>
          </a:ln>
        </p:spPr>
      </p:sp>
      <p:sp>
        <p:nvSpPr>
          <p:cNvPr id="87" name="Rectangle 86">
            <a:extLst xmlns:a="http://schemas.openxmlformats.org/drawingml/2006/main">
              <a:ext uri="{FF2B5EF4-FFF2-40B4-BE49-F238E27FC236}">
                <a16:creationId xmlns:a16="http://schemas.microsoft.com/office/drawing/2014/main" id="{3BB49182-3BE4-415C-8774-7C504FA21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38475"/>
            <a:ext cx="13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5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58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58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✓</a:t>
            </a:r>
          </a:p>
        </p:txBody>
      </p:sp>
      <p:sp>
        <p:nvSpPr>
          <p:cNvPr id="88" name="Rectangle 87">
            <a:extLst xmlns:a="http://schemas.openxmlformats.org/drawingml/2006/main">
              <a:ext uri="{FF2B5EF4-FFF2-40B4-BE49-F238E27FC236}">
                <a16:creationId xmlns:a16="http://schemas.microsoft.com/office/drawing/2014/main" id="{97B10437-C7F7-490F-8C8F-F9ACC7493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038475"/>
            <a:ext cx="3133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278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675" b="0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Menangani request</a:t>
            </a:r>
          </a:p>
        </p:txBody>
      </p:sp>
      <p:sp>
        <p:nvSpPr>
          <p:cNvPr id="89" name="Oval 88">
            <a:extLst xmlns:a="http://schemas.openxmlformats.org/drawingml/2006/main">
              <a:ext uri="{FF2B5EF4-FFF2-40B4-BE49-F238E27FC236}">
                <a16:creationId xmlns:a16="http://schemas.microsoft.com/office/drawing/2014/main" id="{7ABEE259-5396-4786-A554-8A68E412B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2385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315B"/>
          </a:solidFill>
          <a:ln xmlns:a="http://schemas.openxmlformats.org/drawingml/2006/main" w="0">
            <a:solidFill>
              <a:srgbClr val="0C315B"/>
            </a:solidFill>
          </a:ln>
        </p:spPr>
      </p:sp>
      <p:sp>
        <p:nvSpPr>
          <p:cNvPr id="90" name="Rectangle 89">
            <a:extLst xmlns:a="http://schemas.openxmlformats.org/drawingml/2006/main">
              <a:ext uri="{FF2B5EF4-FFF2-40B4-BE49-F238E27FC236}">
                <a16:creationId xmlns:a16="http://schemas.microsoft.com/office/drawing/2014/main" id="{CA9EF686-5AD2-49A8-B224-ADD8D740B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219450"/>
            <a:ext cx="13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5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58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58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✓</a:t>
            </a:r>
          </a:p>
        </p:txBody>
      </p:sp>
      <p:sp>
        <p:nvSpPr>
          <p:cNvPr id="91" name="Rectangle 90">
            <a:extLst xmlns:a="http://schemas.openxmlformats.org/drawingml/2006/main">
              <a:ext uri="{FF2B5EF4-FFF2-40B4-BE49-F238E27FC236}">
                <a16:creationId xmlns:a16="http://schemas.microsoft.com/office/drawing/2014/main" id="{BDD4449B-7BFB-4968-8921-54572C29F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219450"/>
            <a:ext cx="3133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278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675" b="0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Update actual stock</a:t>
            </a:r>
          </a:p>
        </p:txBody>
      </p:sp>
      <p:sp>
        <p:nvSpPr>
          <p:cNvPr id="92" name="Oval 91">
            <a:extLst xmlns:a="http://schemas.openxmlformats.org/drawingml/2006/main">
              <a:ext uri="{FF2B5EF4-FFF2-40B4-BE49-F238E27FC236}">
                <a16:creationId xmlns:a16="http://schemas.microsoft.com/office/drawing/2014/main" id="{EBEF12F7-3DAC-44C1-9286-BAB9B32C1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4194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315B"/>
          </a:solidFill>
          <a:ln xmlns:a="http://schemas.openxmlformats.org/drawingml/2006/main" w="0">
            <a:solidFill>
              <a:srgbClr val="0C315B"/>
            </a:solidFill>
          </a:ln>
        </p:spPr>
      </p:sp>
      <p:sp>
        <p:nvSpPr>
          <p:cNvPr id="93" name="Rectangle 92">
            <a:extLst xmlns:a="http://schemas.openxmlformats.org/drawingml/2006/main">
              <a:ext uri="{FF2B5EF4-FFF2-40B4-BE49-F238E27FC236}">
                <a16:creationId xmlns:a16="http://schemas.microsoft.com/office/drawing/2014/main" id="{EAA8558D-9AC8-4EAA-BC2C-AC2142714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400425"/>
            <a:ext cx="13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5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58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58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✓</a:t>
            </a:r>
          </a:p>
        </p:txBody>
      </p:sp>
      <p:sp>
        <p:nvSpPr>
          <p:cNvPr id="94" name="Rectangle 93">
            <a:extLst xmlns:a="http://schemas.openxmlformats.org/drawingml/2006/main">
              <a:ext uri="{FF2B5EF4-FFF2-40B4-BE49-F238E27FC236}">
                <a16:creationId xmlns:a16="http://schemas.microsoft.com/office/drawing/2014/main" id="{CD046C34-161E-4BCE-9A37-36013890D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400425"/>
            <a:ext cx="3133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278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675" b="0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Edit ARMATURE RUNNING</a:t>
            </a:r>
          </a:p>
        </p:txBody>
      </p:sp>
      <p:sp>
        <p:nvSpPr>
          <p:cNvPr id="95" name="Rectangle: Rounded Corners 94">
            <a:extLst xmlns:a="http://schemas.openxmlformats.org/drawingml/2006/main">
              <a:ext uri="{FF2B5EF4-FFF2-40B4-BE49-F238E27FC236}">
                <a16:creationId xmlns:a16="http://schemas.microsoft.com/office/drawing/2014/main" id="{DFD2D57D-1C9C-487D-8590-A961EDFE7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905250"/>
            <a:ext cx="116586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0478">
            <a:solidFill>
              <a:srgbClr val="F0CA7B"/>
            </a:solidFill>
            <a:prstDash val="solid"/>
          </a:ln>
        </p:spPr>
      </p:sp>
      <p:sp>
        <p:nvSpPr>
          <p:cNvPr id="96" name="Rectangle 95">
            <a:extLst xmlns:a="http://schemas.openxmlformats.org/drawingml/2006/main">
              <a:ext uri="{FF2B5EF4-FFF2-40B4-BE49-F238E27FC236}">
                <a16:creationId xmlns:a16="http://schemas.microsoft.com/office/drawing/2014/main" id="{C3A6F8AA-2AD5-42BD-A43D-A05AA2EB5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962400"/>
            <a:ext cx="1104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E6A42A"/>
                </a:solidFill>
                <a:latin typeface="DejaVu Sans"/>
                <a:ea typeface="DejaVu Sans"/>
                <a:cs typeface="DejaVu Sans"/>
              </a:defRPr>
            </a:pPr>
            <a:r>
              <a:rPr sz="675" b="1">
                <a:solidFill>
                  <a:srgbClr val="E6A42A"/>
                </a:solidFill>
                <a:latin typeface="DejaVu Sans"/>
                <a:ea typeface="DejaVu Sans"/>
                <a:cs typeface="DejaVu Sans"/>
              </a:rPr>
              <a:t>IMPORTANT</a:t>
            </a:r>
          </a:p>
        </p:txBody>
      </p:sp>
      <p:sp>
        <p:nvSpPr>
          <p:cNvPr id="97" name="Rectangle 96">
            <a:extLst xmlns:a="http://schemas.openxmlformats.org/drawingml/2006/main">
              <a:ext uri="{FF2B5EF4-FFF2-40B4-BE49-F238E27FC236}">
                <a16:creationId xmlns:a16="http://schemas.microsoft.com/office/drawing/2014/main" id="{DA103B8F-C94E-4ED1-878F-BBE2AAF75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52875"/>
            <a:ext cx="10287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DONE hanya menyelesaikan request. DONE tidak otomatis menambah stock. Stock berubah melalui USE atau UPDATE STOCK.</a:t>
            </a:r>
          </a:p>
        </p:txBody>
      </p:sp>
      <p:pic>
        <p:nvPicPr>
          <p:cNvPr id="210" name="Picture 2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59b36ed0b7454a"/>
          <a:stretch xmlns:a="http://schemas.openxmlformats.org/drawingml/2006/main"/>
        </p:blipFill>
        <p:spPr>
          <a:xfrm xmlns:a="http://schemas.openxmlformats.org/drawingml/2006/main">
            <a:off x="3095625" y="4505325"/>
            <a:ext cx="6000750" cy="2000250"/>
          </a:xfrm>
          <a:prstGeom xmlns:a="http://schemas.openxmlformats.org/drawingml/2006/main" prst="rect">
            <a:avLst/>
          </a:prstGeom>
        </p:spPr>
      </p:pic>
      <p:sp>
        <p:nvSpPr>
          <p:cNvPr id="99" name="Straight Connector 98">
            <a:extLst xmlns:a="http://schemas.openxmlformats.org/drawingml/2006/main">
              <a:ext uri="{FF2B5EF4-FFF2-40B4-BE49-F238E27FC236}">
                <a16:creationId xmlns:a16="http://schemas.microsoft.com/office/drawing/2014/main" id="{904DB0C2-C450-469E-B093-4CD29FFFC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905375"/>
            <a:ext cx="619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6A42A"/>
            </a:solidFill>
            <a:prstDash val="dash"/>
          </a:ln>
        </p:spPr>
      </p:sp>
      <p:sp>
        <p:nvSpPr>
          <p:cNvPr id="100" name="Arrow: Left 99">
            <a:extLst xmlns:a="http://schemas.openxmlformats.org/drawingml/2006/main">
              <a:ext uri="{FF2B5EF4-FFF2-40B4-BE49-F238E27FC236}">
                <a16:creationId xmlns:a16="http://schemas.microsoft.com/office/drawing/2014/main" id="{24A0BD39-D15B-4ED9-BE9A-E00D6A433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819650"/>
            <a:ext cx="323850" cy="16192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E6A42A"/>
          </a:solidFill>
          <a:ln xmlns:a="http://schemas.openxmlformats.org/drawingml/2006/main" w="0">
            <a:solidFill>
              <a:srgbClr val="E6A42A"/>
            </a:solidFill>
          </a:ln>
        </p:spPr>
      </p:sp>
      <p:sp>
        <p:nvSpPr>
          <p:cNvPr id="101" name="Rectangle: Rounded Corners 100">
            <a:extLst xmlns:a="http://schemas.openxmlformats.org/drawingml/2006/main">
              <a:ext uri="{FF2B5EF4-FFF2-40B4-BE49-F238E27FC236}">
                <a16:creationId xmlns:a16="http://schemas.microsoft.com/office/drawing/2014/main" id="{01339731-31FF-4B1B-91A8-79E50C51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752975"/>
            <a:ext cx="2524125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0478">
            <a:solidFill>
              <a:srgbClr val="EFCA7C"/>
            </a:solidFill>
            <a:prstDash val="solid"/>
          </a:ln>
        </p:spPr>
      </p:sp>
      <p:sp>
        <p:nvSpPr>
          <p:cNvPr id="102" name="Rectangle 101">
            <a:extLst xmlns:a="http://schemas.openxmlformats.org/drawingml/2006/main">
              <a:ext uri="{FF2B5EF4-FFF2-40B4-BE49-F238E27FC236}">
                <a16:creationId xmlns:a16="http://schemas.microsoft.com/office/drawing/2014/main" id="{5A507A0F-54AD-47EE-AC0D-1A43DBE43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752975"/>
            <a:ext cx="2524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2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53" b="1">
                <a:solidFill>
                  <a:srgbClr val="8C590A"/>
                </a:solidFill>
                <a:latin typeface="DejaVu Sans"/>
                <a:ea typeface="DejaVu Sans"/>
                <a:cs typeface="DejaVu Sans"/>
              </a:defRPr>
            </a:pPr>
            <a:r>
              <a:rPr sz="653" b="1">
                <a:solidFill>
                  <a:srgbClr val="8C590A"/>
                </a:solidFill>
                <a:latin typeface="DejaVu Sans"/>
                <a:ea typeface="DejaVu Sans"/>
                <a:cs typeface="DejaVu Sans"/>
              </a:rPr>
              <a:t>REQUEST MATERIAL  ·  BLOWER ASSY BOP → ARMATURE LINE BOP</a:t>
            </a:r>
          </a:p>
        </p:txBody>
      </p:sp>
      <p:sp>
        <p:nvSpPr>
          <p:cNvPr id="103" name="Straight Connector 102">
            <a:extLst xmlns:a="http://schemas.openxmlformats.org/drawingml/2006/main">
              <a:ext uri="{FF2B5EF4-FFF2-40B4-BE49-F238E27FC236}">
                <a16:creationId xmlns:a16="http://schemas.microsoft.com/office/drawing/2014/main" id="{2C31CBF3-9960-4281-A33C-23759D997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6429375"/>
            <a:ext cx="595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75BA"/>
            </a:solidFill>
            <a:prstDash val="solid"/>
          </a:ln>
        </p:spPr>
      </p:sp>
      <p:sp>
        <p:nvSpPr>
          <p:cNvPr id="104" name="Arrow: Right 103">
            <a:extLst xmlns:a="http://schemas.openxmlformats.org/drawingml/2006/main">
              <a:ext uri="{FF2B5EF4-FFF2-40B4-BE49-F238E27FC236}">
                <a16:creationId xmlns:a16="http://schemas.microsoft.com/office/drawing/2014/main" id="{91ED7F1D-20D8-47BE-A597-7D4D8AB1E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6324600"/>
            <a:ext cx="352425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75BA"/>
          </a:solidFill>
          <a:ln xmlns:a="http://schemas.openxmlformats.org/drawingml/2006/main" w="0">
            <a:solidFill>
              <a:srgbClr val="2575BA"/>
            </a:solidFill>
          </a:ln>
        </p:spPr>
      </p:sp>
      <p:sp>
        <p:nvSpPr>
          <p:cNvPr id="105" name="Rectangle: Rounded Corners 104">
            <a:extLst xmlns:a="http://schemas.openxmlformats.org/drawingml/2006/main">
              <a:ext uri="{FF2B5EF4-FFF2-40B4-BE49-F238E27FC236}">
                <a16:creationId xmlns:a16="http://schemas.microsoft.com/office/drawing/2014/main" id="{6FE53ABE-54FD-4843-9A63-FECC5AB83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6286500"/>
            <a:ext cx="304800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315B"/>
          </a:solidFill>
          <a:ln xmlns:a="http://schemas.openxmlformats.org/drawingml/2006/main" w="10478">
            <a:solidFill>
              <a:srgbClr val="0C315B"/>
            </a:solidFill>
            <a:prstDash val="solid"/>
          </a:ln>
        </p:spPr>
      </p:sp>
      <p:sp>
        <p:nvSpPr>
          <p:cNvPr id="106" name="Rectangle 105">
            <a:extLst xmlns:a="http://schemas.openxmlformats.org/drawingml/2006/main">
              <a:ext uri="{FF2B5EF4-FFF2-40B4-BE49-F238E27FC236}">
                <a16:creationId xmlns:a16="http://schemas.microsoft.com/office/drawing/2014/main" id="{6464E800-F2FD-4226-B22F-204F30EC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6286500"/>
            <a:ext cx="304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412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53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653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ARMATURE SUPPLY / STOCK UPDATED  ·  ARMATURE LINE BOP → BLOWER ASSY BOP</a:t>
            </a:r>
          </a:p>
        </p:txBody>
      </p:sp>
      <p:sp>
        <p:nvSpPr>
          <p:cNvPr id="107" name="Rectangle: Rounded Corners 106">
            <a:extLst xmlns:a="http://schemas.openxmlformats.org/drawingml/2006/main">
              <a:ext uri="{FF2B5EF4-FFF2-40B4-BE49-F238E27FC236}">
                <a16:creationId xmlns:a16="http://schemas.microsoft.com/office/drawing/2014/main" id="{56F3F77C-92B6-41AF-B495-923BCEF41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29325"/>
            <a:ext cx="1457325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8D5E8"/>
            </a:solidFill>
            <a:prstDash val="solid"/>
          </a:ln>
        </p:spPr>
      </p:sp>
      <p:sp>
        <p:nvSpPr>
          <p:cNvPr id="108" name="Rectangle 107">
            <a:extLst xmlns:a="http://schemas.openxmlformats.org/drawingml/2006/main">
              <a:ext uri="{FF2B5EF4-FFF2-40B4-BE49-F238E27FC236}">
                <a16:creationId xmlns:a16="http://schemas.microsoft.com/office/drawing/2014/main" id="{7380051C-C039-46C9-82AB-BBB0FE7A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29325"/>
            <a:ext cx="14573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53" b="1">
                <a:solidFill>
                  <a:srgbClr val="0C315B"/>
                </a:solidFill>
                <a:latin typeface="DejaVu Sans"/>
                <a:ea typeface="DejaVu Sans"/>
                <a:cs typeface="DejaVu Sans"/>
              </a:defRPr>
            </a:pPr>
            <a:r>
              <a:rPr sz="653" b="1">
                <a:solidFill>
                  <a:srgbClr val="0C315B"/>
                </a:solidFill>
                <a:latin typeface="DejaVu Sans"/>
                <a:ea typeface="DejaVu Sans"/>
                <a:cs typeface="DejaVu Sans"/>
              </a:rPr>
              <a:t>ARMATURE LINE BOP</a:t>
            </a:r>
          </a:p>
        </p:txBody>
      </p:sp>
      <p:sp>
        <p:nvSpPr>
          <p:cNvPr id="109" name="Rectangle: Rounded Corners 108">
            <a:extLst xmlns:a="http://schemas.openxmlformats.org/drawingml/2006/main">
              <a:ext uri="{FF2B5EF4-FFF2-40B4-BE49-F238E27FC236}">
                <a16:creationId xmlns:a16="http://schemas.microsoft.com/office/drawing/2014/main" id="{192F6A89-A23D-4AB4-88B9-3520F861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029325"/>
            <a:ext cx="1685925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8D5E8"/>
            </a:solidFill>
            <a:prstDash val="solid"/>
          </a:ln>
        </p:spPr>
      </p:sp>
      <p:sp>
        <p:nvSpPr>
          <p:cNvPr id="110" name="Rectangle 109">
            <a:extLst xmlns:a="http://schemas.openxmlformats.org/drawingml/2006/main">
              <a:ext uri="{FF2B5EF4-FFF2-40B4-BE49-F238E27FC236}">
                <a16:creationId xmlns:a16="http://schemas.microsoft.com/office/drawing/2014/main" id="{495582E8-B737-4CA9-A52F-BF6828274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029325"/>
            <a:ext cx="1685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53" b="1">
                <a:solidFill>
                  <a:srgbClr val="2575BA"/>
                </a:solidFill>
                <a:latin typeface="DejaVu Sans"/>
                <a:ea typeface="DejaVu Sans"/>
                <a:cs typeface="DejaVu Sans"/>
              </a:defRPr>
            </a:pPr>
            <a:r>
              <a:rPr sz="653" b="1">
                <a:solidFill>
                  <a:srgbClr val="2575BA"/>
                </a:solidFill>
                <a:latin typeface="DejaVu Sans"/>
                <a:ea typeface="DejaVu Sans"/>
                <a:cs typeface="DejaVu Sans"/>
              </a:rPr>
              <a:t>BLOWER ASSY BOP</a:t>
            </a:r>
          </a:p>
        </p:txBody>
      </p:sp>
    </p:spTree>
    <p:extLst>
      <p:ext uri="{BB962C8B-B14F-4D97-AF65-F5344CB8AC3E}">
        <p14:creationId xmlns:p14="http://schemas.microsoft.com/office/powerpoint/2010/main" val="5927918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8" name="Rectangle 87">
            <a:extLst xmlns:a="http://schemas.openxmlformats.org/drawingml/2006/main">
              <a:ext uri="{FF2B5EF4-FFF2-40B4-BE49-F238E27FC236}">
                <a16:creationId xmlns:a16="http://schemas.microsoft.com/office/drawing/2014/main" id="{B956E60A-DBAC-4752-B4D6-C98D4C56B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315B"/>
          </a:solidFill>
          <a:ln xmlns:a="http://schemas.openxmlformats.org/drawingml/2006/main" w="0">
            <a:solidFill>
              <a:srgbClr val="0C315B"/>
            </a:solidFill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644104B-615F-4EE4-82E8-B17308B7D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0955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C315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0C315B"/>
                </a:solidFill>
                <a:latin typeface="DejaVu Sans"/>
                <a:ea typeface="DejaVu Sans"/>
                <a:cs typeface="DejaVu Sans"/>
              </a:rPr>
              <a:t>BLOWER ASSY BOP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6ADF935-8426-4F0C-A446-A57AF0E5C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81025"/>
            <a:ext cx="7905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617A91"/>
                </a:solidFill>
                <a:latin typeface="DejaVu Sans"/>
                <a:ea typeface="DejaVu Sans"/>
                <a:cs typeface="DejaVu Sans"/>
              </a:defRPr>
            </a:pPr>
            <a:r>
              <a:rPr sz="915" b="0">
                <a:solidFill>
                  <a:srgbClr val="617A91"/>
                </a:solidFill>
                <a:latin typeface="DejaVu Sans"/>
                <a:ea typeface="DejaVu Sans"/>
                <a:cs typeface="DejaVu Sans"/>
              </a:rPr>
              <a:t>Viewer / Production User Flow</a:t>
            </a:r>
          </a:p>
        </p:txBody>
      </p:sp>
      <p:sp>
        <p:nvSpPr>
          <p:cNvPr id="4" name="Rectangle: Rounded Corners 3">
            <a:extLst xmlns:a="http://schemas.openxmlformats.org/drawingml/2006/main">
              <a:ext uri="{FF2B5EF4-FFF2-40B4-BE49-F238E27FC236}">
                <a16:creationId xmlns:a16="http://schemas.microsoft.com/office/drawing/2014/main" id="{5498811A-34D9-43D0-AB9D-ECA4A6C5F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333375"/>
            <a:ext cx="1095375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7FD"/>
          </a:solidFill>
          <a:ln xmlns:a="http://schemas.openxmlformats.org/drawingml/2006/main" w="10478">
            <a:solidFill>
              <a:srgbClr val="B8D5E8"/>
            </a:solidFill>
            <a:prstDash val="solid"/>
          </a:ln>
        </p:spPr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542FF66-E510-42CD-AE9F-1DA30DCB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333375"/>
            <a:ext cx="1095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53" b="1">
                <a:solidFill>
                  <a:srgbClr val="2575BA"/>
                </a:solidFill>
                <a:latin typeface="DejaVu Sans"/>
                <a:ea typeface="DejaVu Sans"/>
                <a:cs typeface="DejaVu Sans"/>
              </a:defRPr>
            </a:pPr>
            <a:r>
              <a:rPr sz="653" b="1">
                <a:solidFill>
                  <a:srgbClr val="2575BA"/>
                </a:solidFill>
                <a:latin typeface="DejaVu Sans"/>
                <a:ea typeface="DejaVu Sans"/>
                <a:cs typeface="DejaVu Sans"/>
              </a:rPr>
              <a:t>SLIDE 2 / 3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9099E98-96FC-44B0-8E4F-019F8078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9620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2575BA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2575BA"/>
                </a:solidFill>
                <a:latin typeface="DejaVu Sans"/>
                <a:ea typeface="DejaVu Sans"/>
                <a:cs typeface="DejaVu Sans"/>
              </a:rPr>
              <a:t>VIEWER USER FLOW</a:t>
            </a:r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B9EEBFDA-90BC-4009-88D1-1E1CE820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933450"/>
            <a:ext cx="160020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7FD"/>
          </a:solidFill>
          <a:ln xmlns:a="http://schemas.openxmlformats.org/drawingml/2006/main" w="10478">
            <a:solidFill>
              <a:srgbClr val="B8D5E8"/>
            </a:solidFill>
            <a:prstDash val="solid"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6AED4D9-D782-4A6A-B4BE-2D7DE6F0F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933450"/>
            <a:ext cx="1600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53" b="1">
                <a:solidFill>
                  <a:srgbClr val="2575BA"/>
                </a:solidFill>
                <a:latin typeface="DejaVu Sans"/>
                <a:ea typeface="DejaVu Sans"/>
                <a:cs typeface="DejaVu Sans"/>
              </a:defRPr>
            </a:pPr>
            <a:r>
              <a:rPr sz="653" b="1">
                <a:solidFill>
                  <a:srgbClr val="2575BA"/>
                </a:solidFill>
                <a:latin typeface="DejaVu Sans"/>
                <a:ea typeface="DejaVu Sans"/>
                <a:cs typeface="DejaVu Sans"/>
              </a:rPr>
              <a:t>VIEW + USE + REQUEST</a:t>
            </a:r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90C9F831-8AF9-492F-8E3F-9633FA8E5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57300"/>
            <a:ext cx="2628900" cy="1657350"/>
          </a:xfrm>
          <a:prstGeom xmlns:a="http://schemas.openxmlformats.org/drawingml/2006/main" prst="roundRect">
            <a:avLst>
              <a:gd name="adj" fmla="val 74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2575BA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10" name="Rectangle: Rounded Corners 9">
            <a:extLst xmlns:a="http://schemas.openxmlformats.org/drawingml/2006/main">
              <a:ext uri="{FF2B5EF4-FFF2-40B4-BE49-F238E27FC236}">
                <a16:creationId xmlns:a16="http://schemas.microsoft.com/office/drawing/2014/main" id="{7645EB63-A1E1-4500-AD0A-A161A5A2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2476500" cy="1504950"/>
          </a:xfrm>
          <a:prstGeom xmlns:a="http://schemas.openxmlformats.org/drawingml/2006/main" prst="roundRect">
            <a:avLst>
              <a:gd name="adj" fmla="val 5063"/>
            </a:avLst>
          </a:prstGeom>
          <a:blipFill xmlns:a="http://schemas.openxmlformats.org/drawingml/2006/main" rotWithShape="1">
            <a:blip xmlns:r="http://schemas.openxmlformats.org/officeDocument/2006/relationships" r:embed="Rbec3d81db5a04ed7"/>
            <a:srcRect l="0" t="0" r="0" b="0"/>
            <a:stretch>
              <a:fillRect l="0" t="0" r="0" b="0"/>
            </a:stretch>
          </a:blipFill>
          <a:ln xmlns:a="http://schemas.openxmlformats.org/drawingml/2006/main" w="7620">
            <a:solidFill>
              <a:srgbClr val="DCEAF4"/>
            </a:solidFill>
            <a:prstDash val="solid"/>
          </a:ln>
        </p:spPr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7970491B-E5F9-4436-AEFF-0D2440924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13811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75BA"/>
          </a:solidFill>
          <a:ln xmlns:a="http://schemas.openxmlformats.org/drawingml/2006/main" w="0">
            <a:solidFill>
              <a:srgbClr val="2575BA"/>
            </a:solidFill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B537606C-1CD9-4F8E-AE82-4F3A87B06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13811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38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638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3DF9BE9A-0BA9-4E84-901E-482590AF8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1609725"/>
            <a:ext cx="247650" cy="180975"/>
          </a:xfrm>
          <a:prstGeom xmlns:a="http://schemas.openxmlformats.org/drawingml/2006/main" prst="roundRect">
            <a:avLst>
              <a:gd name="adj" fmla="val 21053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2575BA"/>
            </a:solidFill>
            <a:prstDash val="solid"/>
          </a:ln>
        </p:spPr>
      </p:sp>
      <p:sp>
        <p:nvSpPr>
          <p:cNvPr id="14" name="Straight Connector 13">
            <a:extLst xmlns:a="http://schemas.openxmlformats.org/drawingml/2006/main">
              <a:ext uri="{FF2B5EF4-FFF2-40B4-BE49-F238E27FC236}">
                <a16:creationId xmlns:a16="http://schemas.microsoft.com/office/drawing/2014/main" id="{0EA77A01-522C-41D0-9F0B-587FAE02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838325"/>
            <a:ext cx="152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2575BA"/>
            </a:solidFill>
            <a:prstDash val="solid"/>
          </a:ln>
        </p:spPr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7A0AAA3E-E213-49E0-A72E-396586401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66950"/>
            <a:ext cx="2247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0C315B"/>
                </a:solidFill>
                <a:latin typeface="DejaVu Sans"/>
                <a:ea typeface="DejaVu Sans"/>
                <a:cs typeface="DejaVu Sans"/>
              </a:defRPr>
            </a:pPr>
            <a:r>
              <a:rPr sz="863" b="1">
                <a:solidFill>
                  <a:srgbClr val="0C315B"/>
                </a:solidFill>
                <a:latin typeface="DejaVu Sans"/>
                <a:ea typeface="DejaVu Sans"/>
                <a:cs typeface="DejaVu Sans"/>
              </a:rPr>
              <a:t>VIEWER LOGIN</a:t>
            </a:r>
          </a:p>
        </p:txBody>
      </p:sp>
      <p:sp>
        <p:nvSpPr>
          <p:cNvPr id="16" name="Rectangle: Rounded Corners 15">
            <a:extLst xmlns:a="http://schemas.openxmlformats.org/drawingml/2006/main">
              <a:ext uri="{FF2B5EF4-FFF2-40B4-BE49-F238E27FC236}">
                <a16:creationId xmlns:a16="http://schemas.microsoft.com/office/drawing/2014/main" id="{17D6A645-E64C-494F-8180-456C827CD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257300"/>
            <a:ext cx="2628900" cy="1657350"/>
          </a:xfrm>
          <a:prstGeom xmlns:a="http://schemas.openxmlformats.org/drawingml/2006/main" prst="roundRect">
            <a:avLst>
              <a:gd name="adj" fmla="val 74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2575BA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17" name="Rectangle: Rounded Corners 16">
            <a:extLst xmlns:a="http://schemas.openxmlformats.org/drawingml/2006/main">
              <a:ext uri="{FF2B5EF4-FFF2-40B4-BE49-F238E27FC236}">
                <a16:creationId xmlns:a16="http://schemas.microsoft.com/office/drawing/2014/main" id="{30ECBE1A-E85F-4A08-8D54-15FAA74DE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1333500"/>
            <a:ext cx="2476500" cy="1504950"/>
          </a:xfrm>
          <a:prstGeom xmlns:a="http://schemas.openxmlformats.org/drawingml/2006/main" prst="roundRect">
            <a:avLst>
              <a:gd name="adj" fmla="val 5063"/>
            </a:avLst>
          </a:prstGeom>
          <a:blipFill xmlns:a="http://schemas.openxmlformats.org/drawingml/2006/main">
            <a:blip xmlns:r="http://schemas.openxmlformats.org/officeDocument/2006/relationships" r:embed="R877040ac76f34ef4"/>
            <a:stretch>
              <a:fillRect l="0" t="0" r="0" b="0"/>
            </a:stretch>
          </a:blipFill>
          <a:ln xmlns:a="http://schemas.openxmlformats.org/drawingml/2006/main" w="7620">
            <a:solidFill>
              <a:srgbClr val="DCEAF4"/>
            </a:solidFill>
            <a:prstDash val="solid"/>
          </a:ln>
        </p:spPr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CD511E13-B59A-47DB-9BA3-1AED86DF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3811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75BA"/>
          </a:solidFill>
          <a:ln xmlns:a="http://schemas.openxmlformats.org/drawingml/2006/main" w="0">
            <a:solidFill>
              <a:srgbClr val="2575BA"/>
            </a:solidFill>
          </a:ln>
        </p:spPr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920E21FA-72FC-43CF-ABD2-905B7A6FC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3811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38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638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20" name="Rectangle: Rounded Corners 19">
            <a:extLst xmlns:a="http://schemas.openxmlformats.org/drawingml/2006/main">
              <a:ext uri="{FF2B5EF4-FFF2-40B4-BE49-F238E27FC236}">
                <a16:creationId xmlns:a16="http://schemas.microsoft.com/office/drawing/2014/main" id="{67C37717-E14B-478F-923A-B9CA60A76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609725"/>
            <a:ext cx="247650" cy="180975"/>
          </a:xfrm>
          <a:prstGeom xmlns:a="http://schemas.openxmlformats.org/drawingml/2006/main" prst="roundRect">
            <a:avLst>
              <a:gd name="adj" fmla="val 21053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2575BA"/>
            </a:solidFill>
            <a:prstDash val="solid"/>
          </a:ln>
        </p:spPr>
      </p:sp>
      <p:sp>
        <p:nvSpPr>
          <p:cNvPr id="21" name="Straight Connector 20">
            <a:extLst xmlns:a="http://schemas.openxmlformats.org/drawingml/2006/main">
              <a:ext uri="{FF2B5EF4-FFF2-40B4-BE49-F238E27FC236}">
                <a16:creationId xmlns:a16="http://schemas.microsoft.com/office/drawing/2014/main" id="{280A6369-7FB3-4AC9-A307-87055505F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838325"/>
            <a:ext cx="152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2575BA"/>
            </a:solidFill>
            <a:prstDash val="solid"/>
          </a:ln>
        </p:spPr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424E433B-CA7B-456D-A7E2-3052C18FD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286000"/>
            <a:ext cx="2247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0C315B"/>
                </a:solidFill>
                <a:latin typeface="DejaVu Sans"/>
                <a:ea typeface="DejaVu Sans"/>
                <a:cs typeface="DejaVu Sans"/>
              </a:defRPr>
            </a:pPr>
            <a:r>
              <a:rPr sz="863" b="1">
                <a:solidFill>
                  <a:srgbClr val="0C315B"/>
                </a:solidFill>
                <a:latin typeface="DejaVu Sans"/>
                <a:ea typeface="DejaVu Sans"/>
                <a:cs typeface="DejaVu Sans"/>
              </a:rPr>
              <a:t>VIEWER DASHBOARD</a:t>
            </a:r>
          </a:p>
        </p:txBody>
      </p:sp>
      <p:sp>
        <p:nvSpPr>
          <p:cNvPr id="23" name="Rectangle: Rounded Corners 22">
            <a:extLst xmlns:a="http://schemas.openxmlformats.org/drawingml/2006/main">
              <a:ext uri="{FF2B5EF4-FFF2-40B4-BE49-F238E27FC236}">
                <a16:creationId xmlns:a16="http://schemas.microsoft.com/office/drawing/2014/main" id="{F9CA2CC7-6F5B-4198-9C7A-7BB8203F4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257300"/>
            <a:ext cx="2628900" cy="1657350"/>
          </a:xfrm>
          <a:prstGeom xmlns:a="http://schemas.openxmlformats.org/drawingml/2006/main" prst="roundRect">
            <a:avLst>
              <a:gd name="adj" fmla="val 74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2575BA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24" name="Rectangle: Rounded Corners 23">
            <a:extLst xmlns:a="http://schemas.openxmlformats.org/drawingml/2006/main">
              <a:ext uri="{FF2B5EF4-FFF2-40B4-BE49-F238E27FC236}">
                <a16:creationId xmlns:a16="http://schemas.microsoft.com/office/drawing/2014/main" id="{E9CA68F4-E5FB-4B28-87BF-28A55AB2D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333500"/>
            <a:ext cx="2476500" cy="1504950"/>
          </a:xfrm>
          <a:prstGeom xmlns:a="http://schemas.openxmlformats.org/drawingml/2006/main" prst="roundRect">
            <a:avLst>
              <a:gd name="adj" fmla="val 5063"/>
            </a:avLst>
          </a:prstGeom>
          <a:blipFill xmlns:a="http://schemas.openxmlformats.org/drawingml/2006/main">
            <a:blip xmlns:r="http://schemas.openxmlformats.org/officeDocument/2006/relationships" r:embed="Recff0cf22e4d471e"/>
            <a:stretch>
              <a:fillRect l="0" t="0" r="0" b="0"/>
            </a:stretch>
          </a:blipFill>
          <a:ln xmlns:a="http://schemas.openxmlformats.org/drawingml/2006/main" w="7620">
            <a:solidFill>
              <a:srgbClr val="DCEAF4"/>
            </a:solidFill>
            <a:prstDash val="solid"/>
          </a:ln>
        </p:spPr>
      </p:sp>
      <p:sp>
        <p:nvSpPr>
          <p:cNvPr id="25" name="Oval 24">
            <a:extLst xmlns:a="http://schemas.openxmlformats.org/drawingml/2006/main">
              <a:ext uri="{FF2B5EF4-FFF2-40B4-BE49-F238E27FC236}">
                <a16:creationId xmlns:a16="http://schemas.microsoft.com/office/drawing/2014/main" id="{DF650E4C-3A57-46BE-A67C-AB037F968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3811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75BA"/>
          </a:solidFill>
          <a:ln xmlns:a="http://schemas.openxmlformats.org/drawingml/2006/main" w="0">
            <a:solidFill>
              <a:srgbClr val="2575BA"/>
            </a:solidFill>
          </a:ln>
        </p:spPr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9AAE6A65-46A9-47C3-B872-D161CED3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3811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38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638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27" name="Rectangle: Rounded Corners 26">
            <a:extLst xmlns:a="http://schemas.openxmlformats.org/drawingml/2006/main">
              <a:ext uri="{FF2B5EF4-FFF2-40B4-BE49-F238E27FC236}">
                <a16:creationId xmlns:a16="http://schemas.microsoft.com/office/drawing/2014/main" id="{818007D0-81D8-4817-A718-103D19C4A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1609725"/>
            <a:ext cx="247650" cy="180975"/>
          </a:xfrm>
          <a:prstGeom xmlns:a="http://schemas.openxmlformats.org/drawingml/2006/main" prst="roundRect">
            <a:avLst>
              <a:gd name="adj" fmla="val 21053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2575BA"/>
            </a:solidFill>
            <a:prstDash val="solid"/>
          </a:ln>
        </p:spPr>
      </p:sp>
      <p:sp>
        <p:nvSpPr>
          <p:cNvPr id="28" name="Straight Connector 27">
            <a:extLst xmlns:a="http://schemas.openxmlformats.org/drawingml/2006/main">
              <a:ext uri="{FF2B5EF4-FFF2-40B4-BE49-F238E27FC236}">
                <a16:creationId xmlns:a16="http://schemas.microsoft.com/office/drawing/2014/main" id="{3E6AFF3B-1BF3-4B36-A858-6331130E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838325"/>
            <a:ext cx="152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2575BA"/>
            </a:solidFill>
            <a:prstDash val="solid"/>
          </a:ln>
        </p:spPr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087F9439-7D81-422A-B14A-222E80875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95525"/>
            <a:ext cx="2247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0C315B"/>
                </a:solidFill>
                <a:latin typeface="DejaVu Sans"/>
                <a:ea typeface="DejaVu Sans"/>
                <a:cs typeface="DejaVu Sans"/>
              </a:defRPr>
            </a:pPr>
            <a:r>
              <a:rPr sz="863" b="1">
                <a:solidFill>
                  <a:srgbClr val="0C315B"/>
                </a:solidFill>
                <a:latin typeface="DejaVu Sans"/>
                <a:ea typeface="DejaVu Sans"/>
                <a:cs typeface="DejaVu Sans"/>
              </a:rPr>
              <a:t>USE MATERIAL POPUP</a:t>
            </a:r>
          </a:p>
        </p:txBody>
      </p:sp>
      <p:sp>
        <p:nvSpPr>
          <p:cNvPr id="30" name="Rectangle: Rounded Corners 29">
            <a:extLst xmlns:a="http://schemas.openxmlformats.org/drawingml/2006/main">
              <a:ext uri="{FF2B5EF4-FFF2-40B4-BE49-F238E27FC236}">
                <a16:creationId xmlns:a16="http://schemas.microsoft.com/office/drawing/2014/main" id="{7023D1FE-103E-43B3-9AEF-C794BE27B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1257300"/>
            <a:ext cx="2628900" cy="1657350"/>
          </a:xfrm>
          <a:prstGeom xmlns:a="http://schemas.openxmlformats.org/drawingml/2006/main" prst="roundRect">
            <a:avLst>
              <a:gd name="adj" fmla="val 74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E6A42A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31" name="Rectangle: Rounded Corners 30">
            <a:extLst xmlns:a="http://schemas.openxmlformats.org/drawingml/2006/main">
              <a:ext uri="{FF2B5EF4-FFF2-40B4-BE49-F238E27FC236}">
                <a16:creationId xmlns:a16="http://schemas.microsoft.com/office/drawing/2014/main" id="{BEB9F9EB-5A7A-4E80-8A19-B5FA6B617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1333500"/>
            <a:ext cx="2476500" cy="1504950"/>
          </a:xfrm>
          <a:prstGeom xmlns:a="http://schemas.openxmlformats.org/drawingml/2006/main" prst="roundRect">
            <a:avLst>
              <a:gd name="adj" fmla="val 5063"/>
            </a:avLst>
          </a:prstGeom>
          <a:blipFill xmlns:a="http://schemas.openxmlformats.org/drawingml/2006/main">
            <a:blip xmlns:r="http://schemas.openxmlformats.org/officeDocument/2006/relationships" r:embed="R2ff1190eefa6430b"/>
            <a:stretch>
              <a:fillRect l="0" t="0" r="0" b="0"/>
            </a:stretch>
          </a:blipFill>
          <a:ln xmlns:a="http://schemas.openxmlformats.org/drawingml/2006/main" w="7620">
            <a:solidFill>
              <a:srgbClr val="DCEAF4"/>
            </a:solidFill>
            <a:prstDash val="solid"/>
          </a:ln>
        </p:spPr>
      </p:sp>
      <p:sp>
        <p:nvSpPr>
          <p:cNvPr id="32" name="Oval 31">
            <a:extLst xmlns:a="http://schemas.openxmlformats.org/drawingml/2006/main">
              <a:ext uri="{FF2B5EF4-FFF2-40B4-BE49-F238E27FC236}">
                <a16:creationId xmlns:a16="http://schemas.microsoft.com/office/drawing/2014/main" id="{7CFA5F11-C346-4F38-861C-C39804A7C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3811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42A"/>
          </a:solidFill>
          <a:ln xmlns:a="http://schemas.openxmlformats.org/drawingml/2006/main" w="0">
            <a:solidFill>
              <a:srgbClr val="E6A42A"/>
            </a:solidFill>
          </a:ln>
        </p:spPr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3CEF5D19-E4E8-41E8-BB9E-6A9CBC96E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3811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38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638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34" name="Rectangle: Rounded Corners 33">
            <a:extLst xmlns:a="http://schemas.openxmlformats.org/drawingml/2006/main">
              <a:ext uri="{FF2B5EF4-FFF2-40B4-BE49-F238E27FC236}">
                <a16:creationId xmlns:a16="http://schemas.microsoft.com/office/drawing/2014/main" id="{477823D0-123A-4107-94C9-1FE604F2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1609725"/>
            <a:ext cx="247650" cy="180975"/>
          </a:xfrm>
          <a:prstGeom xmlns:a="http://schemas.openxmlformats.org/drawingml/2006/main" prst="roundRect">
            <a:avLst>
              <a:gd name="adj" fmla="val 21053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E6A42A"/>
            </a:solidFill>
            <a:prstDash val="solid"/>
          </a:ln>
        </p:spPr>
      </p:sp>
      <p:sp>
        <p:nvSpPr>
          <p:cNvPr id="35" name="Straight Connector 34">
            <a:extLst xmlns:a="http://schemas.openxmlformats.org/drawingml/2006/main">
              <a:ext uri="{FF2B5EF4-FFF2-40B4-BE49-F238E27FC236}">
                <a16:creationId xmlns:a16="http://schemas.microsoft.com/office/drawing/2014/main" id="{38A05EF4-32EC-4E3D-8F05-7DD3EC3B2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1838325"/>
            <a:ext cx="152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E6A42A"/>
            </a:solidFill>
            <a:prstDash val="solid"/>
          </a:ln>
        </p:spPr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0E766756-0FAD-48BD-B0C3-3BA46DFE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295525"/>
            <a:ext cx="2247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0C315B"/>
                </a:solidFill>
                <a:latin typeface="DejaVu Sans"/>
                <a:ea typeface="DejaVu Sans"/>
                <a:cs typeface="DejaVu Sans"/>
              </a:defRPr>
            </a:pPr>
            <a:r>
              <a:rPr sz="863" b="1">
                <a:solidFill>
                  <a:srgbClr val="0C315B"/>
                </a:solidFill>
                <a:latin typeface="DejaVu Sans"/>
                <a:ea typeface="DejaVu Sans"/>
                <a:cs typeface="DejaVu Sans"/>
              </a:rPr>
              <a:t>REQUEST MATERIAL POPUP</a:t>
            </a:r>
          </a:p>
        </p:txBody>
      </p:sp>
      <p:sp>
        <p:nvSpPr>
          <p:cNvPr id="37" name="Arrow: Right 36">
            <a:extLst xmlns:a="http://schemas.openxmlformats.org/drawingml/2006/main">
              <a:ext uri="{FF2B5EF4-FFF2-40B4-BE49-F238E27FC236}">
                <a16:creationId xmlns:a16="http://schemas.microsoft.com/office/drawing/2014/main" id="{3DDF1F24-347E-4A0A-BA3A-15A917016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981200"/>
            <a:ext cx="20955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75BA"/>
          </a:solidFill>
          <a:ln xmlns:a="http://schemas.openxmlformats.org/drawingml/2006/main" w="0">
            <a:solidFill>
              <a:srgbClr val="2575BA"/>
            </a:solidFill>
          </a:ln>
        </p:spPr>
      </p:sp>
      <p:sp>
        <p:nvSpPr>
          <p:cNvPr id="38" name="Arrow: Right 37">
            <a:extLst xmlns:a="http://schemas.openxmlformats.org/drawingml/2006/main">
              <a:ext uri="{FF2B5EF4-FFF2-40B4-BE49-F238E27FC236}">
                <a16:creationId xmlns:a16="http://schemas.microsoft.com/office/drawing/2014/main" id="{362F5755-0836-4EA3-8E4E-04A08B0E9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981200"/>
            <a:ext cx="20955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75BA"/>
          </a:solidFill>
          <a:ln xmlns:a="http://schemas.openxmlformats.org/drawingml/2006/main" w="0">
            <a:solidFill>
              <a:srgbClr val="2575BA"/>
            </a:solidFill>
          </a:ln>
        </p:spPr>
      </p:sp>
      <p:sp>
        <p:nvSpPr>
          <p:cNvPr id="39" name="Arrow: Right 38">
            <a:extLst xmlns:a="http://schemas.openxmlformats.org/drawingml/2006/main">
              <a:ext uri="{FF2B5EF4-FFF2-40B4-BE49-F238E27FC236}">
                <a16:creationId xmlns:a16="http://schemas.microsoft.com/office/drawing/2014/main" id="{0D7101A6-5D88-4382-B92E-256334C23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1981200"/>
            <a:ext cx="20955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6A42A"/>
          </a:solidFill>
          <a:ln xmlns:a="http://schemas.openxmlformats.org/drawingml/2006/main" w="0">
            <a:solidFill>
              <a:srgbClr val="E6A42A"/>
            </a:solidFill>
          </a:ln>
        </p:spPr>
      </p:sp>
      <p:sp>
        <p:nvSpPr>
          <p:cNvPr id="40" name="Rectangle: Rounded Corners 39">
            <a:extLst xmlns:a="http://schemas.openxmlformats.org/drawingml/2006/main">
              <a:ext uri="{FF2B5EF4-FFF2-40B4-BE49-F238E27FC236}">
                <a16:creationId xmlns:a16="http://schemas.microsoft.com/office/drawing/2014/main" id="{C52E87B9-8615-4358-93C9-6A2E2EE8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105150"/>
            <a:ext cx="2628900" cy="16192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8D5E8"/>
            </a:solidFill>
            <a:prstDash val="solid"/>
          </a:ln>
        </p:spPr>
      </p:sp>
      <p:sp>
        <p:nvSpPr>
          <p:cNvPr id="41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AC86F0D9-AE08-41CF-9611-B3E5D7752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194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35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0C315B"/>
                </a:solidFill>
                <a:latin typeface="DejaVu Sans"/>
                <a:ea typeface="DejaVu Sans"/>
                <a:cs typeface="DejaVu Sans"/>
              </a:defRPr>
            </a:pPr>
            <a:r>
              <a:rPr sz="788" b="1">
                <a:solidFill>
                  <a:srgbClr val="0C315B"/>
                </a:solidFill>
                <a:latin typeface="DejaVu Sans"/>
                <a:ea typeface="DejaVu Sans"/>
                <a:cs typeface="DejaVu Sans"/>
              </a:rPr>
              <a:t>01  LOGIN</a:t>
            </a:r>
          </a:p>
        </p:txBody>
      </p:sp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C891631C-FC2E-4179-9ED6-F9E67986E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17A91"/>
                </a:solidFill>
                <a:latin typeface="DejaVu Sans"/>
                <a:ea typeface="DejaVu Sans"/>
                <a:cs typeface="DejaVu Sans"/>
              </a:defRPr>
            </a:pPr>
            <a:r>
              <a:rPr sz="675" b="0">
                <a:solidFill>
                  <a:srgbClr val="617A91"/>
                </a:solidFill>
                <a:latin typeface="DejaVu Sans"/>
                <a:ea typeface="DejaVu Sans"/>
                <a:cs typeface="DejaVu Sans"/>
              </a:rPr>
              <a:t>Login menggunakan akun role Viewer / Production.</a:t>
            </a:r>
          </a:p>
        </p:txBody>
      </p:sp>
      <p:sp>
        <p:nvSpPr>
          <p:cNvPr id="43" name="Rectangle: Rounded Corners 42">
            <a:extLst xmlns:a="http://schemas.openxmlformats.org/drawingml/2006/main">
              <a:ext uri="{FF2B5EF4-FFF2-40B4-BE49-F238E27FC236}">
                <a16:creationId xmlns:a16="http://schemas.microsoft.com/office/drawing/2014/main" id="{39083C2B-41B6-4644-BD5F-E0E7B2A2A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38600"/>
            <a:ext cx="981075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7FD"/>
          </a:solidFill>
          <a:ln xmlns:a="http://schemas.openxmlformats.org/drawingml/2006/main" w="10478">
            <a:solidFill>
              <a:srgbClr val="B8D5E8"/>
            </a:solidFill>
            <a:prstDash val="solid"/>
          </a:ln>
        </p:spPr>
      </p:sp>
      <p:sp>
        <p:nvSpPr>
          <p:cNvPr id="44" name="Rectangle 43">
            <a:extLst xmlns:a="http://schemas.openxmlformats.org/drawingml/2006/main">
              <a:ext uri="{FF2B5EF4-FFF2-40B4-BE49-F238E27FC236}">
                <a16:creationId xmlns:a16="http://schemas.microsoft.com/office/drawing/2014/main" id="{C4E8BFEB-3A08-4C8C-9119-BB0EA5E88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38600"/>
            <a:ext cx="981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53" b="1">
                <a:solidFill>
                  <a:srgbClr val="2575BA"/>
                </a:solidFill>
                <a:latin typeface="DejaVu Sans"/>
                <a:ea typeface="DejaVu Sans"/>
                <a:cs typeface="DejaVu Sans"/>
              </a:defRPr>
            </a:pPr>
            <a:r>
              <a:rPr sz="653" b="1">
                <a:solidFill>
                  <a:srgbClr val="2575BA"/>
                </a:solidFill>
                <a:latin typeface="DejaVu Sans"/>
                <a:ea typeface="DejaVu Sans"/>
                <a:cs typeface="DejaVu Sans"/>
              </a:rPr>
              <a:t>SECURE ACCESS</a:t>
            </a:r>
          </a:p>
        </p:txBody>
      </p:sp>
      <p:sp>
        <p:nvSpPr>
          <p:cNvPr id="45" name="Rectangle: Rounded Corners 44">
            <a:extLst xmlns:a="http://schemas.openxmlformats.org/drawingml/2006/main">
              <a:ext uri="{FF2B5EF4-FFF2-40B4-BE49-F238E27FC236}">
                <a16:creationId xmlns:a16="http://schemas.microsoft.com/office/drawing/2014/main" id="{96453830-404E-41D8-B632-CA626B80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105150"/>
            <a:ext cx="2628900" cy="16192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8D5E8"/>
            </a:solidFill>
            <a:prstDash val="solid"/>
          </a:ln>
        </p:spPr>
      </p:sp>
      <p:sp>
        <p:nvSpPr>
          <p:cNvPr id="46" name="Rectangle 45">
            <a:extLst xmlns:a="http://schemas.openxmlformats.org/drawingml/2006/main">
              <a:ext uri="{FF2B5EF4-FFF2-40B4-BE49-F238E27FC236}">
                <a16:creationId xmlns:a16="http://schemas.microsoft.com/office/drawing/2014/main" id="{2FB7611A-9D0F-47EA-92CF-B2091FE4B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2194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35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0C315B"/>
                </a:solidFill>
                <a:latin typeface="DejaVu Sans"/>
                <a:ea typeface="DejaVu Sans"/>
                <a:cs typeface="DejaVu Sans"/>
              </a:defRPr>
            </a:pPr>
            <a:r>
              <a:rPr sz="788" b="1">
                <a:solidFill>
                  <a:srgbClr val="0C315B"/>
                </a:solidFill>
                <a:latin typeface="DejaVu Sans"/>
                <a:ea typeface="DejaVu Sans"/>
                <a:cs typeface="DejaVu Sans"/>
              </a:rPr>
              <a:t>02  SELECT &amp; CHECK</a:t>
            </a:r>
          </a:p>
        </p:txBody>
      </p:sp>
      <p:sp>
        <p:nvSpPr>
          <p:cNvPr id="47" name="Rectangle: Rounded Corners 46">
            <a:extLst xmlns:a="http://schemas.openxmlformats.org/drawingml/2006/main">
              <a:ext uri="{FF2B5EF4-FFF2-40B4-BE49-F238E27FC236}">
                <a16:creationId xmlns:a16="http://schemas.microsoft.com/office/drawing/2014/main" id="{D39D2A23-EEF4-494E-BB28-86A62375A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524250"/>
            <a:ext cx="66675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7FD"/>
          </a:solidFill>
          <a:ln xmlns:a="http://schemas.openxmlformats.org/drawingml/2006/main" w="10478">
            <a:solidFill>
              <a:srgbClr val="B8D5E8"/>
            </a:solidFill>
            <a:prstDash val="solid"/>
          </a:ln>
        </p:spPr>
      </p:sp>
      <p:sp>
        <p:nvSpPr>
          <p:cNvPr id="48" name="Rectangle 47">
            <a:extLst xmlns:a="http://schemas.openxmlformats.org/drawingml/2006/main">
              <a:ext uri="{FF2B5EF4-FFF2-40B4-BE49-F238E27FC236}">
                <a16:creationId xmlns:a16="http://schemas.microsoft.com/office/drawing/2014/main" id="{269510BA-792A-45C8-8A57-A09826F11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524250"/>
            <a:ext cx="66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53" b="1">
                <a:solidFill>
                  <a:srgbClr val="2575BA"/>
                </a:solidFill>
                <a:latin typeface="DejaVu Sans"/>
                <a:ea typeface="DejaVu Sans"/>
                <a:cs typeface="DejaVu Sans"/>
              </a:defRPr>
            </a:pPr>
            <a:r>
              <a:rPr sz="653" b="1">
                <a:solidFill>
                  <a:srgbClr val="2575BA"/>
                </a:solidFill>
                <a:latin typeface="DejaVu Sans"/>
                <a:ea typeface="DejaVu Sans"/>
                <a:cs typeface="DejaVu Sans"/>
              </a:rPr>
              <a:t>K62</a:t>
            </a:r>
          </a:p>
        </p:txBody>
      </p:sp>
      <p:sp>
        <p:nvSpPr>
          <p:cNvPr id="49" name="Rectangle: Rounded Corners 48">
            <a:extLst xmlns:a="http://schemas.openxmlformats.org/drawingml/2006/main">
              <a:ext uri="{FF2B5EF4-FFF2-40B4-BE49-F238E27FC236}">
                <a16:creationId xmlns:a16="http://schemas.microsoft.com/office/drawing/2014/main" id="{566F62B9-B9E7-4347-8AE8-F59A919D9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524250"/>
            <a:ext cx="66675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7FD"/>
          </a:solidFill>
          <a:ln xmlns:a="http://schemas.openxmlformats.org/drawingml/2006/main" w="10478">
            <a:solidFill>
              <a:srgbClr val="B8D5E8"/>
            </a:solidFill>
            <a:prstDash val="solid"/>
          </a:ln>
        </p:spPr>
      </p:sp>
      <p:sp>
        <p:nvSpPr>
          <p:cNvPr id="50" name="Rectangle 49">
            <a:extLst xmlns:a="http://schemas.openxmlformats.org/drawingml/2006/main">
              <a:ext uri="{FF2B5EF4-FFF2-40B4-BE49-F238E27FC236}">
                <a16:creationId xmlns:a16="http://schemas.microsoft.com/office/drawing/2014/main" id="{10C7D5B3-1D8F-4CFF-A2EE-F878700AA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524250"/>
            <a:ext cx="66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53" b="1">
                <a:solidFill>
                  <a:srgbClr val="2575BA"/>
                </a:solidFill>
                <a:latin typeface="DejaVu Sans"/>
                <a:ea typeface="DejaVu Sans"/>
                <a:cs typeface="DejaVu Sans"/>
              </a:defRPr>
            </a:pPr>
            <a:r>
              <a:rPr sz="653" b="1">
                <a:solidFill>
                  <a:srgbClr val="2575BA"/>
                </a:solidFill>
                <a:latin typeface="DejaVu Sans"/>
                <a:ea typeface="DejaVu Sans"/>
                <a:cs typeface="DejaVu Sans"/>
              </a:rPr>
              <a:t>K70</a:t>
            </a:r>
          </a:p>
        </p:txBody>
      </p:sp>
      <p:sp>
        <p:nvSpPr>
          <p:cNvPr id="51" name="Oval 50">
            <a:extLst xmlns:a="http://schemas.openxmlformats.org/drawingml/2006/main">
              <a:ext uri="{FF2B5EF4-FFF2-40B4-BE49-F238E27FC236}">
                <a16:creationId xmlns:a16="http://schemas.microsoft.com/office/drawing/2014/main" id="{EECEA987-C89A-4723-9413-37971BDD6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8862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75BA"/>
          </a:solidFill>
          <a:ln xmlns:a="http://schemas.openxmlformats.org/drawingml/2006/main" w="0">
            <a:solidFill>
              <a:srgbClr val="2575BA"/>
            </a:solidFill>
          </a:ln>
        </p:spPr>
      </p:sp>
      <p:sp>
        <p:nvSpPr>
          <p:cNvPr id="52" name="Rectangle 51">
            <a:extLst xmlns:a="http://schemas.openxmlformats.org/drawingml/2006/main">
              <a:ext uri="{FF2B5EF4-FFF2-40B4-BE49-F238E27FC236}">
                <a16:creationId xmlns:a16="http://schemas.microsoft.com/office/drawing/2014/main" id="{84D32B50-CB86-4748-A30C-7B8505421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867150"/>
            <a:ext cx="13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5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58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58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✓</a:t>
            </a:r>
          </a:p>
        </p:txBody>
      </p:sp>
      <p:sp>
        <p:nvSpPr>
          <p:cNvPr id="53" name="Rectangle 52">
            <a:extLst xmlns:a="http://schemas.openxmlformats.org/drawingml/2006/main">
              <a:ext uri="{FF2B5EF4-FFF2-40B4-BE49-F238E27FC236}">
                <a16:creationId xmlns:a16="http://schemas.microsoft.com/office/drawing/2014/main" id="{FFC62A7D-1D84-460E-AFDC-4F4B950D0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67150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278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675" b="0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Part Number</a:t>
            </a:r>
          </a:p>
        </p:txBody>
      </p:sp>
      <p:sp>
        <p:nvSpPr>
          <p:cNvPr id="54" name="Oval 53">
            <a:extLst xmlns:a="http://schemas.openxmlformats.org/drawingml/2006/main">
              <a:ext uri="{FF2B5EF4-FFF2-40B4-BE49-F238E27FC236}">
                <a16:creationId xmlns:a16="http://schemas.microsoft.com/office/drawing/2014/main" id="{440CF817-EFC9-423A-B3AF-5F3EF3F2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0767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75BA"/>
          </a:solidFill>
          <a:ln xmlns:a="http://schemas.openxmlformats.org/drawingml/2006/main" w="0">
            <a:solidFill>
              <a:srgbClr val="2575BA"/>
            </a:solidFill>
          </a:ln>
        </p:spPr>
      </p:sp>
      <p:sp>
        <p:nvSpPr>
          <p:cNvPr id="55" name="Rectangle 54">
            <a:extLst xmlns:a="http://schemas.openxmlformats.org/drawingml/2006/main">
              <a:ext uri="{FF2B5EF4-FFF2-40B4-BE49-F238E27FC236}">
                <a16:creationId xmlns:a16="http://schemas.microsoft.com/office/drawing/2014/main" id="{6437624C-66FB-4C57-991A-D52AF2BAA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057650"/>
            <a:ext cx="13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5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58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58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✓</a:t>
            </a:r>
          </a:p>
        </p:txBody>
      </p:sp>
      <p:sp>
        <p:nvSpPr>
          <p:cNvPr id="56" name="Rectangle 55">
            <a:extLst xmlns:a="http://schemas.openxmlformats.org/drawingml/2006/main">
              <a:ext uri="{FF2B5EF4-FFF2-40B4-BE49-F238E27FC236}">
                <a16:creationId xmlns:a16="http://schemas.microsoft.com/office/drawing/2014/main" id="{BE92E85C-37A2-4D6D-8FD6-CA1E055C3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057650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278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675" b="0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Quantity BOX</a:t>
            </a:r>
          </a:p>
        </p:txBody>
      </p:sp>
      <p:sp>
        <p:nvSpPr>
          <p:cNvPr id="57" name="Oval 56">
            <a:extLst xmlns:a="http://schemas.openxmlformats.org/drawingml/2006/main">
              <a:ext uri="{FF2B5EF4-FFF2-40B4-BE49-F238E27FC236}">
                <a16:creationId xmlns:a16="http://schemas.microsoft.com/office/drawing/2014/main" id="{05565A8F-2695-4AAA-9532-2AFDA5E13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2672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75BA"/>
          </a:solidFill>
          <a:ln xmlns:a="http://schemas.openxmlformats.org/drawingml/2006/main" w="0">
            <a:solidFill>
              <a:srgbClr val="2575BA"/>
            </a:solidFill>
          </a:ln>
        </p:spPr>
      </p:sp>
      <p:sp>
        <p:nvSpPr>
          <p:cNvPr id="58" name="Rectangle 57">
            <a:extLst xmlns:a="http://schemas.openxmlformats.org/drawingml/2006/main">
              <a:ext uri="{FF2B5EF4-FFF2-40B4-BE49-F238E27FC236}">
                <a16:creationId xmlns:a16="http://schemas.microsoft.com/office/drawing/2014/main" id="{8C7A96F9-6F0D-4232-8615-2EBA6BAE0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248150"/>
            <a:ext cx="13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5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58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58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✓</a:t>
            </a:r>
          </a:p>
        </p:txBody>
      </p:sp>
      <p:sp>
        <p:nvSpPr>
          <p:cNvPr id="59" name="Rectangle 58">
            <a:extLst xmlns:a="http://schemas.openxmlformats.org/drawingml/2006/main">
              <a:ext uri="{FF2B5EF4-FFF2-40B4-BE49-F238E27FC236}">
                <a16:creationId xmlns:a16="http://schemas.microsoft.com/office/drawing/2014/main" id="{96D822D7-D271-45C0-89D7-4F71C47D5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248150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278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675" b="0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Status READY / EMPTY</a:t>
            </a:r>
          </a:p>
        </p:txBody>
      </p:sp>
      <p:sp>
        <p:nvSpPr>
          <p:cNvPr id="60" name="Oval 59">
            <a:extLst xmlns:a="http://schemas.openxmlformats.org/drawingml/2006/main">
              <a:ext uri="{FF2B5EF4-FFF2-40B4-BE49-F238E27FC236}">
                <a16:creationId xmlns:a16="http://schemas.microsoft.com/office/drawing/2014/main" id="{7D18DC10-D9BA-4A00-BB2A-9763B2316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4577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75BA"/>
          </a:solidFill>
          <a:ln xmlns:a="http://schemas.openxmlformats.org/drawingml/2006/main" w="0">
            <a:solidFill>
              <a:srgbClr val="2575BA"/>
            </a:solidFill>
          </a:ln>
        </p:spPr>
      </p:sp>
      <p:sp>
        <p:nvSpPr>
          <p:cNvPr id="61" name="Rectangle 60">
            <a:extLst xmlns:a="http://schemas.openxmlformats.org/drawingml/2006/main">
              <a:ext uri="{FF2B5EF4-FFF2-40B4-BE49-F238E27FC236}">
                <a16:creationId xmlns:a16="http://schemas.microsoft.com/office/drawing/2014/main" id="{8638B5ED-2399-4D47-8C8C-C17DFB6B7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438650"/>
            <a:ext cx="13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5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58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58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✓</a:t>
            </a:r>
          </a:p>
        </p:txBody>
      </p:sp>
      <p:sp>
        <p:nvSpPr>
          <p:cNvPr id="62" name="Rectangle 61">
            <a:extLst xmlns:a="http://schemas.openxmlformats.org/drawingml/2006/main">
              <a:ext uri="{FF2B5EF4-FFF2-40B4-BE49-F238E27FC236}">
                <a16:creationId xmlns:a16="http://schemas.microsoft.com/office/drawing/2014/main" id="{7CE2A87C-F3EA-46C0-B2CC-D8290CFE4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438650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278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675" b="0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Last Update</a:t>
            </a:r>
          </a:p>
        </p:txBody>
      </p:sp>
      <p:sp>
        <p:nvSpPr>
          <p:cNvPr id="63" name="Rectangle: Rounded Corners 62">
            <a:extLst xmlns:a="http://schemas.openxmlformats.org/drawingml/2006/main">
              <a:ext uri="{FF2B5EF4-FFF2-40B4-BE49-F238E27FC236}">
                <a16:creationId xmlns:a16="http://schemas.microsoft.com/office/drawing/2014/main" id="{78532541-7EE3-4AA2-BD9D-BBD29EC38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05150"/>
            <a:ext cx="2628900" cy="16192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8D5E8"/>
            </a:solidFill>
            <a:prstDash val="solid"/>
          </a:ln>
        </p:spPr>
      </p:sp>
      <p:sp>
        <p:nvSpPr>
          <p:cNvPr id="64" name="Rectangle 63">
            <a:extLst xmlns:a="http://schemas.openxmlformats.org/drawingml/2006/main">
              <a:ext uri="{FF2B5EF4-FFF2-40B4-BE49-F238E27FC236}">
                <a16:creationId xmlns:a16="http://schemas.microsoft.com/office/drawing/2014/main" id="{E01BBDF6-7DF1-462E-BEEA-C79E1B8A1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194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35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0C315B"/>
                </a:solidFill>
                <a:latin typeface="DejaVu Sans"/>
                <a:ea typeface="DejaVu Sans"/>
                <a:cs typeface="DejaVu Sans"/>
              </a:defRPr>
            </a:pPr>
            <a:r>
              <a:rPr sz="788" b="1">
                <a:solidFill>
                  <a:srgbClr val="0C315B"/>
                </a:solidFill>
                <a:latin typeface="DejaVu Sans"/>
                <a:ea typeface="DejaVu Sans"/>
                <a:cs typeface="DejaVu Sans"/>
              </a:rPr>
              <a:t>A. USE MATERIAL</a:t>
            </a:r>
          </a:p>
        </p:txBody>
      </p:sp>
      <p:sp>
        <p:nvSpPr>
          <p:cNvPr id="65" name="Rectangle 64">
            <a:extLst xmlns:a="http://schemas.openxmlformats.org/drawingml/2006/main">
              <a:ext uri="{FF2B5EF4-FFF2-40B4-BE49-F238E27FC236}">
                <a16:creationId xmlns:a16="http://schemas.microsoft.com/office/drawing/2014/main" id="{452E0A00-2206-4552-8783-94B6E78AC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95675"/>
            <a:ext cx="2286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17A91"/>
                </a:solidFill>
                <a:latin typeface="DejaVu Sans"/>
                <a:ea typeface="DejaVu Sans"/>
                <a:cs typeface="DejaVu Sans"/>
              </a:defRPr>
            </a:pPr>
            <a:r>
              <a:rPr sz="660" b="0">
                <a:solidFill>
                  <a:srgbClr val="617A91"/>
                </a:solidFill>
                <a:latin typeface="DejaVu Sans"/>
                <a:ea typeface="DejaVu Sans"/>
                <a:cs typeface="DejaVu Sans"/>
              </a:rPr>
              <a:t>USE   Input jumlah BOX   Confirm</a:t>
            </a:r>
          </a:p>
        </p:txBody>
      </p:sp>
      <p:sp>
        <p:nvSpPr>
          <p:cNvPr id="66" name="Rectangle: Rounded Corners 65">
            <a:extLst xmlns:a="http://schemas.openxmlformats.org/drawingml/2006/main">
              <a:ext uri="{FF2B5EF4-FFF2-40B4-BE49-F238E27FC236}">
                <a16:creationId xmlns:a16="http://schemas.microsoft.com/office/drawing/2014/main" id="{A93A3CD2-AEB0-49A6-A72B-2D1AF62BA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19525"/>
            <a:ext cx="213360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F7EF"/>
          </a:solidFill>
          <a:ln xmlns:a="http://schemas.openxmlformats.org/drawingml/2006/main" w="10478">
            <a:solidFill>
              <a:srgbClr val="A8E4CE"/>
            </a:solidFill>
            <a:prstDash val="solid"/>
          </a:ln>
        </p:spPr>
      </p:sp>
      <p:sp>
        <p:nvSpPr>
          <p:cNvPr id="67" name="Rectangle 66">
            <a:extLst xmlns:a="http://schemas.openxmlformats.org/drawingml/2006/main">
              <a:ext uri="{FF2B5EF4-FFF2-40B4-BE49-F238E27FC236}">
                <a16:creationId xmlns:a16="http://schemas.microsoft.com/office/drawing/2014/main" id="{3AACCE74-E2A2-4CB9-83D1-FF982858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19525"/>
            <a:ext cx="213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53" b="1">
                <a:solidFill>
                  <a:srgbClr val="0A7E59"/>
                </a:solidFill>
                <a:latin typeface="DejaVu Sans"/>
                <a:ea typeface="DejaVu Sans"/>
                <a:cs typeface="DejaVu Sans"/>
              </a:defRPr>
            </a:pPr>
            <a:r>
              <a:rPr sz="653" b="1">
                <a:solidFill>
                  <a:srgbClr val="0A7E59"/>
                </a:solidFill>
                <a:latin typeface="DejaVu Sans"/>
                <a:ea typeface="DejaVu Sans"/>
                <a:cs typeface="DejaVu Sans"/>
              </a:rPr>
              <a:t>10 BOX  →  USE 4 BOX  →  6 BOX</a:t>
            </a:r>
          </a:p>
        </p:txBody>
      </p:sp>
      <p:sp>
        <p:nvSpPr>
          <p:cNvPr id="68" name="Rectangle 67">
            <a:extLst xmlns:a="http://schemas.openxmlformats.org/drawingml/2006/main">
              <a:ext uri="{FF2B5EF4-FFF2-40B4-BE49-F238E27FC236}">
                <a16:creationId xmlns:a16="http://schemas.microsoft.com/office/drawing/2014/main" id="{6DC4905F-63CA-494E-9123-E0DC3FD4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529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675" b="0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Stock otomatis berkurang sesuai jumlah material yang digunakan.</a:t>
            </a:r>
          </a:p>
        </p:txBody>
      </p:sp>
      <p:sp>
        <p:nvSpPr>
          <p:cNvPr id="69" name="Rectangle: Rounded Corners 68">
            <a:extLst xmlns:a="http://schemas.openxmlformats.org/drawingml/2006/main">
              <a:ext uri="{FF2B5EF4-FFF2-40B4-BE49-F238E27FC236}">
                <a16:creationId xmlns:a16="http://schemas.microsoft.com/office/drawing/2014/main" id="{B2B899C7-8BD5-4222-BB5D-0A06274D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105150"/>
            <a:ext cx="2628900" cy="16192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8D5E8"/>
            </a:solidFill>
            <a:prstDash val="solid"/>
          </a:ln>
        </p:spPr>
      </p:sp>
      <p:sp>
        <p:nvSpPr>
          <p:cNvPr id="70" name="Rectangle 69">
            <a:extLst xmlns:a="http://schemas.openxmlformats.org/drawingml/2006/main">
              <a:ext uri="{FF2B5EF4-FFF2-40B4-BE49-F238E27FC236}">
                <a16:creationId xmlns:a16="http://schemas.microsoft.com/office/drawing/2014/main" id="{4C1CBFDF-D25E-4737-A5B8-B75AAE6DF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2194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35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0C315B"/>
                </a:solidFill>
                <a:latin typeface="DejaVu Sans"/>
                <a:ea typeface="DejaVu Sans"/>
                <a:cs typeface="DejaVu Sans"/>
              </a:defRPr>
            </a:pPr>
            <a:r>
              <a:rPr sz="788" b="1">
                <a:solidFill>
                  <a:srgbClr val="0C315B"/>
                </a:solidFill>
                <a:latin typeface="DejaVu Sans"/>
                <a:ea typeface="DejaVu Sans"/>
                <a:cs typeface="DejaVu Sans"/>
              </a:rPr>
              <a:t>B. REQUEST MATERIAL</a:t>
            </a:r>
          </a:p>
        </p:txBody>
      </p:sp>
      <p:sp>
        <p:nvSpPr>
          <p:cNvPr id="71" name="Rectangle 70">
            <a:extLst xmlns:a="http://schemas.openxmlformats.org/drawingml/2006/main">
              <a:ext uri="{FF2B5EF4-FFF2-40B4-BE49-F238E27FC236}">
                <a16:creationId xmlns:a16="http://schemas.microsoft.com/office/drawing/2014/main" id="{EC8E4D0F-8A88-4ECD-90FC-C5C49512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495675"/>
            <a:ext cx="2286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17A91"/>
                </a:solidFill>
                <a:latin typeface="DejaVu Sans"/>
                <a:ea typeface="DejaVu Sans"/>
                <a:cs typeface="DejaVu Sans"/>
              </a:defRPr>
            </a:pPr>
            <a:r>
              <a:rPr sz="660" b="0">
                <a:solidFill>
                  <a:srgbClr val="617A91"/>
                </a:solidFill>
                <a:latin typeface="DejaVu Sans"/>
                <a:ea typeface="DejaVu Sans"/>
                <a:cs typeface="DejaVu Sans"/>
              </a:rPr>
              <a:t>REQUEST   Input BOX   Submit</a:t>
            </a:r>
          </a:p>
        </p:txBody>
      </p:sp>
      <p:sp>
        <p:nvSpPr>
          <p:cNvPr id="72" name="Rectangle: Rounded Corners 71">
            <a:extLst xmlns:a="http://schemas.openxmlformats.org/drawingml/2006/main">
              <a:ext uri="{FF2B5EF4-FFF2-40B4-BE49-F238E27FC236}">
                <a16:creationId xmlns:a16="http://schemas.microsoft.com/office/drawing/2014/main" id="{FF2F709F-74B4-4A75-93D3-B16A36D5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819525"/>
            <a:ext cx="99060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0478">
            <a:solidFill>
              <a:srgbClr val="F0CA7B"/>
            </a:solidFill>
            <a:prstDash val="solid"/>
          </a:ln>
        </p:spPr>
      </p:sp>
      <p:sp>
        <p:nvSpPr>
          <p:cNvPr id="73" name="Rectangle 72">
            <a:extLst xmlns:a="http://schemas.openxmlformats.org/drawingml/2006/main">
              <a:ext uri="{FF2B5EF4-FFF2-40B4-BE49-F238E27FC236}">
                <a16:creationId xmlns:a16="http://schemas.microsoft.com/office/drawing/2014/main" id="{4974694A-F494-4918-A846-C0882FF1A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819525"/>
            <a:ext cx="990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53" b="1">
                <a:solidFill>
                  <a:srgbClr val="8F5A09"/>
                </a:solidFill>
                <a:latin typeface="DejaVu Sans"/>
                <a:ea typeface="DejaVu Sans"/>
                <a:cs typeface="DejaVu Sans"/>
              </a:defRPr>
            </a:pPr>
            <a:r>
              <a:rPr sz="653" b="1">
                <a:solidFill>
                  <a:srgbClr val="8F5A09"/>
                </a:solidFill>
                <a:latin typeface="DejaVu Sans"/>
                <a:ea typeface="DejaVu Sans"/>
                <a:cs typeface="DejaVu Sans"/>
              </a:rPr>
              <a:t>PENDING</a:t>
            </a:r>
          </a:p>
        </p:txBody>
      </p:sp>
      <p:sp>
        <p:nvSpPr>
          <p:cNvPr id="74" name="Rectangle 73">
            <a:extLst xmlns:a="http://schemas.openxmlformats.org/drawingml/2006/main">
              <a:ext uri="{FF2B5EF4-FFF2-40B4-BE49-F238E27FC236}">
                <a16:creationId xmlns:a16="http://schemas.microsoft.com/office/drawing/2014/main" id="{29D38714-B47E-468E-9DB3-B9F6FA4BC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41529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675" b="0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Request dikirim ke ARMATURE LINE BOP untuk diproses.</a:t>
            </a:r>
          </a:p>
        </p:txBody>
      </p:sp>
      <p:sp>
        <p:nvSpPr>
          <p:cNvPr id="75" name="Rectangle: Rounded Corners 74">
            <a:extLst xmlns:a="http://schemas.openxmlformats.org/drawingml/2006/main">
              <a:ext uri="{FF2B5EF4-FFF2-40B4-BE49-F238E27FC236}">
                <a16:creationId xmlns:a16="http://schemas.microsoft.com/office/drawing/2014/main" id="{6AF088F7-8449-4535-A0CF-3F4039EE0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924425"/>
            <a:ext cx="11458575" cy="1571625"/>
          </a:xfrm>
          <a:prstGeom xmlns:a="http://schemas.openxmlformats.org/drawingml/2006/main" prst="roundRect">
            <a:avLst>
              <a:gd name="adj" fmla="val 9697"/>
            </a:avLst>
          </a:prstGeom>
          <a:solidFill xmlns:a="http://schemas.openxmlformats.org/drawingml/2006/main">
            <a:srgbClr val="F0F7FC"/>
          </a:solidFill>
          <a:ln xmlns:a="http://schemas.openxmlformats.org/drawingml/2006/main" w="10478">
            <a:solidFill>
              <a:srgbClr val="BCDCEF"/>
            </a:solidFill>
            <a:prstDash val="solid"/>
          </a:ln>
        </p:spPr>
      </p:sp>
      <p:pic>
        <p:nvPicPr>
          <p:cNvPr id="165" name="Picture 16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a84b62ec494d10"/>
          <a:stretch xmlns:a="http://schemas.openxmlformats.org/drawingml/2006/main"/>
        </p:blipFill>
        <p:spPr>
          <a:xfrm xmlns:a="http://schemas.openxmlformats.org/drawingml/2006/main">
            <a:off x="438150" y="5286375"/>
            <a:ext cx="2428875" cy="809625"/>
          </a:xfrm>
          <a:prstGeom xmlns:a="http://schemas.openxmlformats.org/drawingml/2006/main" prst="rect">
            <a:avLst/>
          </a:prstGeom>
        </p:spPr>
      </p:pic>
      <p:sp>
        <p:nvSpPr>
          <p:cNvPr id="77" name="Rectangle 76">
            <a:extLst xmlns:a="http://schemas.openxmlformats.org/drawingml/2006/main">
              <a:ext uri="{FF2B5EF4-FFF2-40B4-BE49-F238E27FC236}">
                <a16:creationId xmlns:a16="http://schemas.microsoft.com/office/drawing/2014/main" id="{8B2E8EE0-CF1F-478C-A3D7-165C681EF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06730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C315B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0C315B"/>
                </a:solidFill>
                <a:latin typeface="DejaVu Sans"/>
                <a:ea typeface="DejaVu Sans"/>
                <a:cs typeface="DejaVu Sans"/>
              </a:rPr>
              <a:t>BLOWER ASSY BOP</a:t>
            </a:r>
          </a:p>
        </p:txBody>
      </p:sp>
      <p:sp>
        <p:nvSpPr>
          <p:cNvPr id="78" name="Rectangle 77">
            <a:extLst xmlns:a="http://schemas.openxmlformats.org/drawingml/2006/main">
              <a:ext uri="{FF2B5EF4-FFF2-40B4-BE49-F238E27FC236}">
                <a16:creationId xmlns:a16="http://schemas.microsoft.com/office/drawing/2014/main" id="{31914B07-796A-4AE4-A8E3-D5235AEA0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334000"/>
            <a:ext cx="3905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617A91"/>
                </a:solidFill>
                <a:latin typeface="DejaVu Sans"/>
                <a:ea typeface="DejaVu Sans"/>
                <a:cs typeface="DejaVu Sans"/>
              </a:defRPr>
            </a:pPr>
            <a:r>
              <a:rPr sz="713" b="0">
                <a:solidFill>
                  <a:srgbClr val="617A91"/>
                </a:solidFill>
                <a:latin typeface="DejaVu Sans"/>
                <a:ea typeface="DejaVu Sans"/>
                <a:cs typeface="DejaVu Sans"/>
              </a:rPr>
              <a:t>Production checks available stock before using or requesting material.</a:t>
            </a:r>
          </a:p>
        </p:txBody>
      </p:sp>
      <p:sp>
        <p:nvSpPr>
          <p:cNvPr id="79" name="Rectangle: Rounded Corners 78">
            <a:extLst xmlns:a="http://schemas.openxmlformats.org/drawingml/2006/main">
              <a:ext uri="{FF2B5EF4-FFF2-40B4-BE49-F238E27FC236}">
                <a16:creationId xmlns:a16="http://schemas.microsoft.com/office/drawing/2014/main" id="{8DC94AB2-4C90-437B-83E9-F9C971D11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905500"/>
            <a:ext cx="95250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8D5E8"/>
            </a:solidFill>
            <a:prstDash val="solid"/>
          </a:ln>
        </p:spPr>
      </p:sp>
      <p:sp>
        <p:nvSpPr>
          <p:cNvPr id="80" name="Rectangle 79">
            <a:extLst xmlns:a="http://schemas.openxmlformats.org/drawingml/2006/main">
              <a:ext uri="{FF2B5EF4-FFF2-40B4-BE49-F238E27FC236}">
                <a16:creationId xmlns:a16="http://schemas.microsoft.com/office/drawing/2014/main" id="{0350C492-F72B-4BA1-A5EA-9742271E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905500"/>
            <a:ext cx="95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53" b="1">
                <a:solidFill>
                  <a:srgbClr val="2575BA"/>
                </a:solidFill>
                <a:latin typeface="DejaVu Sans"/>
                <a:ea typeface="DejaVu Sans"/>
                <a:cs typeface="DejaVu Sans"/>
              </a:defRPr>
            </a:pPr>
            <a:r>
              <a:rPr sz="653" b="1">
                <a:solidFill>
                  <a:srgbClr val="2575BA"/>
                </a:solidFill>
                <a:latin typeface="DejaVu Sans"/>
                <a:ea typeface="DejaVu Sans"/>
                <a:cs typeface="DejaVu Sans"/>
              </a:rPr>
              <a:t>VIEW STOCK</a:t>
            </a:r>
          </a:p>
        </p:txBody>
      </p:sp>
      <p:sp>
        <p:nvSpPr>
          <p:cNvPr id="81" name="Rectangle: Rounded Corners 80">
            <a:extLst xmlns:a="http://schemas.openxmlformats.org/drawingml/2006/main">
              <a:ext uri="{FF2B5EF4-FFF2-40B4-BE49-F238E27FC236}">
                <a16:creationId xmlns:a16="http://schemas.microsoft.com/office/drawing/2014/main" id="{AA5E8E29-D240-4AC7-B90F-1200ADB76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905500"/>
            <a:ext cx="78105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F7EF"/>
          </a:solidFill>
          <a:ln xmlns:a="http://schemas.openxmlformats.org/drawingml/2006/main" w="10478">
            <a:solidFill>
              <a:srgbClr val="A8E4CE"/>
            </a:solidFill>
            <a:prstDash val="solid"/>
          </a:ln>
        </p:spPr>
      </p:sp>
      <p:sp>
        <p:nvSpPr>
          <p:cNvPr id="82" name="Rectangle 81">
            <a:extLst xmlns:a="http://schemas.openxmlformats.org/drawingml/2006/main">
              <a:ext uri="{FF2B5EF4-FFF2-40B4-BE49-F238E27FC236}">
                <a16:creationId xmlns:a16="http://schemas.microsoft.com/office/drawing/2014/main" id="{C6218322-B494-4AB5-8EA0-8F3CD513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905500"/>
            <a:ext cx="781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53" b="1">
                <a:solidFill>
                  <a:srgbClr val="0A7E59"/>
                </a:solidFill>
                <a:latin typeface="DejaVu Sans"/>
                <a:ea typeface="DejaVu Sans"/>
                <a:cs typeface="DejaVu Sans"/>
              </a:defRPr>
            </a:pPr>
            <a:r>
              <a:rPr sz="653" b="1">
                <a:solidFill>
                  <a:srgbClr val="0A7E59"/>
                </a:solidFill>
                <a:latin typeface="DejaVu Sans"/>
                <a:ea typeface="DejaVu Sans"/>
                <a:cs typeface="DejaVu Sans"/>
              </a:rPr>
              <a:t>USE</a:t>
            </a:r>
          </a:p>
        </p:txBody>
      </p:sp>
      <p:sp>
        <p:nvSpPr>
          <p:cNvPr id="83" name="Rectangle: Rounded Corners 82">
            <a:extLst xmlns:a="http://schemas.openxmlformats.org/drawingml/2006/main">
              <a:ext uri="{FF2B5EF4-FFF2-40B4-BE49-F238E27FC236}">
                <a16:creationId xmlns:a16="http://schemas.microsoft.com/office/drawing/2014/main" id="{EE25761B-C56E-44F5-A47B-277783CF2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905500"/>
            <a:ext cx="95250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0478">
            <a:solidFill>
              <a:srgbClr val="F0CA7B"/>
            </a:solidFill>
            <a:prstDash val="solid"/>
          </a:ln>
        </p:spPr>
      </p:sp>
      <p:sp>
        <p:nvSpPr>
          <p:cNvPr id="84" name="Rectangle 83">
            <a:extLst xmlns:a="http://schemas.openxmlformats.org/drawingml/2006/main">
              <a:ext uri="{FF2B5EF4-FFF2-40B4-BE49-F238E27FC236}">
                <a16:creationId xmlns:a16="http://schemas.microsoft.com/office/drawing/2014/main" id="{F02887D8-4326-40F2-8553-867624FD3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905500"/>
            <a:ext cx="95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53" b="1">
                <a:solidFill>
                  <a:srgbClr val="8F5A09"/>
                </a:solidFill>
                <a:latin typeface="DejaVu Sans"/>
                <a:ea typeface="DejaVu Sans"/>
                <a:cs typeface="DejaVu Sans"/>
              </a:defRPr>
            </a:pPr>
            <a:r>
              <a:rPr sz="653" b="1">
                <a:solidFill>
                  <a:srgbClr val="8F5A09"/>
                </a:solidFill>
                <a:latin typeface="DejaVu Sans"/>
                <a:ea typeface="DejaVu Sans"/>
                <a:cs typeface="DejaVu Sans"/>
              </a:rPr>
              <a:t>REQUEST</a:t>
            </a:r>
          </a:p>
        </p:txBody>
      </p:sp>
      <p:sp>
        <p:nvSpPr>
          <p:cNvPr id="85" name="Rectangle: Rounded Corners 84">
            <a:extLst xmlns:a="http://schemas.openxmlformats.org/drawingml/2006/main">
              <a:ext uri="{FF2B5EF4-FFF2-40B4-BE49-F238E27FC236}">
                <a16:creationId xmlns:a16="http://schemas.microsoft.com/office/drawing/2014/main" id="{62648D5B-9101-4E83-AF7C-34E4B5E12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05400"/>
            <a:ext cx="4267200" cy="1047750"/>
          </a:xfrm>
          <a:prstGeom xmlns:a="http://schemas.openxmlformats.org/drawingml/2006/main" prst="roundRect">
            <a:avLst>
              <a:gd name="adj" fmla="val 11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8D5E8"/>
            </a:solidFill>
            <a:prstDash val="solid"/>
          </a:ln>
        </p:spPr>
      </p:sp>
      <p:sp>
        <p:nvSpPr>
          <p:cNvPr id="86" name="Rectangle 85">
            <a:extLst xmlns:a="http://schemas.openxmlformats.org/drawingml/2006/main">
              <a:ext uri="{FF2B5EF4-FFF2-40B4-BE49-F238E27FC236}">
                <a16:creationId xmlns:a16="http://schemas.microsoft.com/office/drawing/2014/main" id="{6DAA1C2A-D0DF-4CAD-AD5A-5989A3811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521970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64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2575BA"/>
                </a:solidFill>
                <a:latin typeface="DejaVu Sans"/>
                <a:ea typeface="DejaVu Sans"/>
                <a:cs typeface="DejaVu Sans"/>
              </a:defRPr>
            </a:pPr>
            <a:r>
              <a:rPr sz="713" b="1">
                <a:solidFill>
                  <a:srgbClr val="2575BA"/>
                </a:solidFill>
                <a:latin typeface="DejaVu Sans"/>
                <a:ea typeface="DejaVu Sans"/>
                <a:cs typeface="DejaVu Sans"/>
              </a:rPr>
              <a:t>FLOW NOTE</a:t>
            </a:r>
          </a:p>
        </p:txBody>
      </p:sp>
      <p:sp>
        <p:nvSpPr>
          <p:cNvPr id="87" name="Rectangle 86">
            <a:extLst xmlns:a="http://schemas.openxmlformats.org/drawingml/2006/main">
              <a:ext uri="{FF2B5EF4-FFF2-40B4-BE49-F238E27FC236}">
                <a16:creationId xmlns:a16="http://schemas.microsoft.com/office/drawing/2014/main" id="{25429E40-F775-4984-8EAF-A331CBC63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5467350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90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690" b="0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Viewer dapat melihat data dan mencatat penggunaan. Viewer tidak dapat mengubah actual stock secara langsung.</a:t>
            </a:r>
          </a:p>
        </p:txBody>
      </p:sp>
    </p:spTree>
    <p:extLst>
      <p:ext uri="{BB962C8B-B14F-4D97-AF65-F5344CB8AC3E}">
        <p14:creationId xmlns:p14="http://schemas.microsoft.com/office/powerpoint/2010/main" val="10749641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" name="Rectangle 85">
            <a:extLst xmlns:a="http://schemas.openxmlformats.org/drawingml/2006/main">
              <a:ext uri="{FF2B5EF4-FFF2-40B4-BE49-F238E27FC236}">
                <a16:creationId xmlns:a16="http://schemas.microsoft.com/office/drawing/2014/main" id="{915148B6-6058-428E-A68E-51C42A38D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315B"/>
          </a:solidFill>
          <a:ln xmlns:a="http://schemas.openxmlformats.org/drawingml/2006/main" w="0">
            <a:solidFill>
              <a:srgbClr val="0C315B"/>
            </a:solidFill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5BE936-84FF-4B06-A346-B3709C84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0955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C315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0C315B"/>
                </a:solidFill>
                <a:latin typeface="DejaVu Sans"/>
                <a:ea typeface="DejaVu Sans"/>
                <a:cs typeface="DejaVu Sans"/>
              </a:rPr>
              <a:t>ARMATURE LINE BOP</a:t>
            </a:r>
            <a:endParaRPr sz="1950" b="1">
              <a:solidFill>
                <a:srgbClr val="0C315B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5C625FC-A64A-447D-BE59-B9274DB17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81025"/>
            <a:ext cx="7905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3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617A91"/>
                </a:solidFill>
                <a:latin typeface="DejaVu Sans"/>
                <a:ea typeface="DejaVu Sans"/>
                <a:cs typeface="DejaVu Sans"/>
              </a:defRPr>
            </a:pPr>
            <a:r>
              <a:rPr sz="915" b="0">
                <a:solidFill>
                  <a:srgbClr val="617A91"/>
                </a:solidFill>
                <a:latin typeface="DejaVu Sans"/>
                <a:ea typeface="DejaVu Sans"/>
                <a:cs typeface="DejaVu Sans"/>
              </a:rPr>
              <a:t>Material Supply &amp; Request Handling Flow</a:t>
            </a:r>
          </a:p>
        </p:txBody>
      </p:sp>
      <p:sp>
        <p:nvSpPr>
          <p:cNvPr id="4" name="Rectangle: Rounded Corners 3">
            <a:extLst xmlns:a="http://schemas.openxmlformats.org/drawingml/2006/main">
              <a:ext uri="{FF2B5EF4-FFF2-40B4-BE49-F238E27FC236}">
                <a16:creationId xmlns:a16="http://schemas.microsoft.com/office/drawing/2014/main" id="{5007650C-EADD-4CDC-B201-7E15F2ED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333375"/>
            <a:ext cx="1095375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7FD"/>
          </a:solidFill>
          <a:ln xmlns:a="http://schemas.openxmlformats.org/drawingml/2006/main" w="10478">
            <a:solidFill>
              <a:srgbClr val="B8D5E8"/>
            </a:solidFill>
            <a:prstDash val="solid"/>
          </a:ln>
        </p:spPr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31D5878-FDAF-49CC-8A9D-ADAA47FC8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333375"/>
            <a:ext cx="1095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53" b="1">
                <a:solidFill>
                  <a:srgbClr val="2575BA"/>
                </a:solidFill>
                <a:latin typeface="DejaVu Sans"/>
                <a:ea typeface="DejaVu Sans"/>
                <a:cs typeface="DejaVu Sans"/>
              </a:defRPr>
            </a:pPr>
            <a:r>
              <a:rPr sz="653" b="1">
                <a:solidFill>
                  <a:srgbClr val="2575BA"/>
                </a:solidFill>
                <a:latin typeface="DejaVu Sans"/>
                <a:ea typeface="DejaVu Sans"/>
                <a:cs typeface="DejaVu Sans"/>
              </a:rPr>
              <a:t>SLIDE 3 / 3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1EDA2C7-C1D6-4DA4-93F7-D037411CF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9620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0C315B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0C315B"/>
                </a:solidFill>
                <a:latin typeface="DejaVu Sans"/>
                <a:ea typeface="DejaVu Sans"/>
                <a:cs typeface="DejaVu Sans"/>
              </a:rPr>
              <a:t>BOP USER FLOW</a:t>
            </a:r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20CE273F-7E9F-4F05-A8C9-5CCE8BC9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933450"/>
            <a:ext cx="1266825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7FD"/>
          </a:solidFill>
          <a:ln xmlns:a="http://schemas.openxmlformats.org/drawingml/2006/main" w="10478">
            <a:solidFill>
              <a:srgbClr val="B8D5E8"/>
            </a:solidFill>
            <a:prstDash val="solid"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3B62777-A4A6-4C8B-A63B-3C81E69E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933450"/>
            <a:ext cx="12668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53" b="1">
                <a:solidFill>
                  <a:srgbClr val="0C315B"/>
                </a:solidFill>
                <a:latin typeface="DejaVu Sans"/>
                <a:ea typeface="DejaVu Sans"/>
                <a:cs typeface="DejaVu Sans"/>
              </a:defRPr>
            </a:pPr>
            <a:r>
              <a:rPr sz="653" b="1">
                <a:solidFill>
                  <a:srgbClr val="0C315B"/>
                </a:solidFill>
                <a:latin typeface="DejaVu Sans"/>
                <a:ea typeface="DejaVu Sans"/>
                <a:cs typeface="DejaVu Sans"/>
              </a:rPr>
              <a:t>EDIT ACCESS</a:t>
            </a:r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67A67F24-3388-4D7B-98B8-603817CB2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57300"/>
            <a:ext cx="2628900" cy="1657350"/>
          </a:xfrm>
          <a:prstGeom xmlns:a="http://schemas.openxmlformats.org/drawingml/2006/main" prst="roundRect">
            <a:avLst>
              <a:gd name="adj" fmla="val 74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C315B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10" name="Rectangle: Rounded Corners 9">
            <a:extLst xmlns:a="http://schemas.openxmlformats.org/drawingml/2006/main">
              <a:ext uri="{FF2B5EF4-FFF2-40B4-BE49-F238E27FC236}">
                <a16:creationId xmlns:a16="http://schemas.microsoft.com/office/drawing/2014/main" id="{DF9F8775-5106-4176-9A42-1656DEF9C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2476500" cy="1504950"/>
          </a:xfrm>
          <a:prstGeom xmlns:a="http://schemas.openxmlformats.org/drawingml/2006/main" prst="roundRect">
            <a:avLst>
              <a:gd name="adj" fmla="val 5063"/>
            </a:avLst>
          </a:prstGeom>
          <a:blipFill xmlns:a="http://schemas.openxmlformats.org/drawingml/2006/main">
            <a:blip xmlns:r="http://schemas.openxmlformats.org/officeDocument/2006/relationships" r:embed="R4c60ef74ad66454c"/>
            <a:stretch>
              <a:fillRect l="0" t="0" r="0" b="0"/>
            </a:stretch>
          </a:blipFill>
          <a:ln xmlns:a="http://schemas.openxmlformats.org/drawingml/2006/main" w="7620">
            <a:solidFill>
              <a:srgbClr val="DCEAF4"/>
            </a:solidFill>
            <a:prstDash val="solid"/>
          </a:ln>
        </p:spPr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BF591145-86E2-477C-A2FC-50A22CE65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13811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315B"/>
          </a:solidFill>
          <a:ln xmlns:a="http://schemas.openxmlformats.org/drawingml/2006/main" w="0">
            <a:solidFill>
              <a:srgbClr val="0C315B"/>
            </a:solidFill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19D4207-DE68-4EB4-B8ED-9CA505EEB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13811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38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638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AF6B0BDF-DA77-4A03-B415-10B096433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1609725"/>
            <a:ext cx="247650" cy="180975"/>
          </a:xfrm>
          <a:prstGeom xmlns:a="http://schemas.openxmlformats.org/drawingml/2006/main" prst="roundRect">
            <a:avLst>
              <a:gd name="adj" fmla="val 21053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0C315B"/>
            </a:solidFill>
            <a:prstDash val="solid"/>
          </a:ln>
        </p:spPr>
      </p:sp>
      <p:sp>
        <p:nvSpPr>
          <p:cNvPr id="14" name="Straight Connector 13">
            <a:extLst xmlns:a="http://schemas.openxmlformats.org/drawingml/2006/main">
              <a:ext uri="{FF2B5EF4-FFF2-40B4-BE49-F238E27FC236}">
                <a16:creationId xmlns:a16="http://schemas.microsoft.com/office/drawing/2014/main" id="{4F0EC59A-70C0-4913-A659-EF726DE87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838325"/>
            <a:ext cx="152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C315B"/>
            </a:solidFill>
            <a:prstDash val="solid"/>
          </a:ln>
        </p:spPr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199FC856-B4DB-46BD-969F-46DF51D4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0"/>
            <a:ext cx="2247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0C315B"/>
                </a:solidFill>
                <a:latin typeface="DejaVu Sans"/>
                <a:ea typeface="DejaVu Sans"/>
                <a:cs typeface="DejaVu Sans"/>
              </a:defRPr>
            </a:pPr>
            <a:r>
              <a:rPr sz="863" b="1">
                <a:solidFill>
                  <a:srgbClr val="0C315B"/>
                </a:solidFill>
                <a:latin typeface="DejaVu Sans"/>
                <a:ea typeface="DejaVu Sans"/>
                <a:cs typeface="DejaVu Sans"/>
              </a:rPr>
              <a:t>BOP DASHBOARD</a:t>
            </a:r>
          </a:p>
        </p:txBody>
      </p:sp>
      <p:sp>
        <p:nvSpPr>
          <p:cNvPr id="16" name="Rectangle: Rounded Corners 15">
            <a:extLst xmlns:a="http://schemas.openxmlformats.org/drawingml/2006/main">
              <a:ext uri="{FF2B5EF4-FFF2-40B4-BE49-F238E27FC236}">
                <a16:creationId xmlns:a16="http://schemas.microsoft.com/office/drawing/2014/main" id="{E0200ED0-AD94-422D-8DF3-7EEA10E5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257300"/>
            <a:ext cx="2628900" cy="1657350"/>
          </a:xfrm>
          <a:prstGeom xmlns:a="http://schemas.openxmlformats.org/drawingml/2006/main" prst="roundRect">
            <a:avLst>
              <a:gd name="adj" fmla="val 74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C315B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17" name="Rectangle: Rounded Corners 16">
            <a:extLst xmlns:a="http://schemas.openxmlformats.org/drawingml/2006/main">
              <a:ext uri="{FF2B5EF4-FFF2-40B4-BE49-F238E27FC236}">
                <a16:creationId xmlns:a16="http://schemas.microsoft.com/office/drawing/2014/main" id="{0A1D63A9-3B22-47ED-9DBB-EF170068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1333500"/>
            <a:ext cx="2476500" cy="1504950"/>
          </a:xfrm>
          <a:prstGeom xmlns:a="http://schemas.openxmlformats.org/drawingml/2006/main" prst="roundRect">
            <a:avLst>
              <a:gd name="adj" fmla="val 5063"/>
            </a:avLst>
          </a:prstGeom>
          <a:blipFill xmlns:a="http://schemas.openxmlformats.org/drawingml/2006/main">
            <a:blip xmlns:r="http://schemas.openxmlformats.org/officeDocument/2006/relationships" r:embed="Rcb694222748440e2"/>
            <a:stretch>
              <a:fillRect l="0" t="0" r="0" b="0"/>
            </a:stretch>
          </a:blipFill>
          <a:ln xmlns:a="http://schemas.openxmlformats.org/drawingml/2006/main" w="7620">
            <a:solidFill>
              <a:srgbClr val="DCEAF4"/>
            </a:solidFill>
            <a:prstDash val="solid"/>
          </a:ln>
        </p:spPr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D5847A93-B3A4-4BE5-A43D-8FDDAF16B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3811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315B"/>
          </a:solidFill>
          <a:ln xmlns:a="http://schemas.openxmlformats.org/drawingml/2006/main" w="0">
            <a:solidFill>
              <a:srgbClr val="0C315B"/>
            </a:solidFill>
          </a:ln>
        </p:spPr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EE8C3289-DE4F-4016-8212-96EE2B5A8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3811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38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638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20" name="Rectangle: Rounded Corners 19">
            <a:extLst xmlns:a="http://schemas.openxmlformats.org/drawingml/2006/main">
              <a:ext uri="{FF2B5EF4-FFF2-40B4-BE49-F238E27FC236}">
                <a16:creationId xmlns:a16="http://schemas.microsoft.com/office/drawing/2014/main" id="{ABD3D0BD-6F43-41A3-A61A-82C94E57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609725"/>
            <a:ext cx="247650" cy="180975"/>
          </a:xfrm>
          <a:prstGeom xmlns:a="http://schemas.openxmlformats.org/drawingml/2006/main" prst="roundRect">
            <a:avLst>
              <a:gd name="adj" fmla="val 21053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0C315B"/>
            </a:solidFill>
            <a:prstDash val="solid"/>
          </a:ln>
        </p:spPr>
      </p:sp>
      <p:sp>
        <p:nvSpPr>
          <p:cNvPr id="21" name="Straight Connector 20">
            <a:extLst xmlns:a="http://schemas.openxmlformats.org/drawingml/2006/main">
              <a:ext uri="{FF2B5EF4-FFF2-40B4-BE49-F238E27FC236}">
                <a16:creationId xmlns:a16="http://schemas.microsoft.com/office/drawing/2014/main" id="{6548086F-BD60-4E94-AF0C-3C39FE72A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838325"/>
            <a:ext cx="152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C315B"/>
            </a:solidFill>
            <a:prstDash val="solid"/>
          </a:ln>
        </p:spPr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935A2762-3CA0-49F3-B207-1723ED56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286000"/>
            <a:ext cx="2247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0C315B"/>
                </a:solidFill>
                <a:latin typeface="DejaVu Sans"/>
                <a:ea typeface="DejaVu Sans"/>
                <a:cs typeface="DejaVu Sans"/>
              </a:defRPr>
            </a:pPr>
            <a:r>
              <a:rPr sz="863" b="1">
                <a:solidFill>
                  <a:srgbClr val="0C315B"/>
                </a:solidFill>
                <a:latin typeface="DejaVu Sans"/>
                <a:ea typeface="DejaVu Sans"/>
                <a:cs typeface="DejaVu Sans"/>
              </a:rPr>
              <a:t>REQUEST PROCESSING</a:t>
            </a:r>
          </a:p>
        </p:txBody>
      </p:sp>
      <p:sp>
        <p:nvSpPr>
          <p:cNvPr id="23" name="Rectangle: Rounded Corners 22">
            <a:extLst xmlns:a="http://schemas.openxmlformats.org/drawingml/2006/main">
              <a:ext uri="{FF2B5EF4-FFF2-40B4-BE49-F238E27FC236}">
                <a16:creationId xmlns:a16="http://schemas.microsoft.com/office/drawing/2014/main" id="{0DF44853-79E9-4F90-B9A8-EAD83F673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257300"/>
            <a:ext cx="2628900" cy="1657350"/>
          </a:xfrm>
          <a:prstGeom xmlns:a="http://schemas.openxmlformats.org/drawingml/2006/main" prst="roundRect">
            <a:avLst>
              <a:gd name="adj" fmla="val 74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C315B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24" name="Rectangle: Rounded Corners 23">
            <a:extLst xmlns:a="http://schemas.openxmlformats.org/drawingml/2006/main">
              <a:ext uri="{FF2B5EF4-FFF2-40B4-BE49-F238E27FC236}">
                <a16:creationId xmlns:a16="http://schemas.microsoft.com/office/drawing/2014/main" id="{B6DA7E2B-C86C-4F9C-AD90-859E4EFAB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333500"/>
            <a:ext cx="2476500" cy="1504950"/>
          </a:xfrm>
          <a:prstGeom xmlns:a="http://schemas.openxmlformats.org/drawingml/2006/main" prst="roundRect">
            <a:avLst>
              <a:gd name="adj" fmla="val 5063"/>
            </a:avLst>
          </a:prstGeom>
          <a:blipFill xmlns:a="http://schemas.openxmlformats.org/drawingml/2006/main">
            <a:blip xmlns:r="http://schemas.openxmlformats.org/officeDocument/2006/relationships" r:embed="Rb63ed0cddb1b4458"/>
            <a:stretch>
              <a:fillRect l="0" t="0" r="0" b="0"/>
            </a:stretch>
          </a:blipFill>
          <a:ln xmlns:a="http://schemas.openxmlformats.org/drawingml/2006/main" w="7620">
            <a:solidFill>
              <a:srgbClr val="DCEAF4"/>
            </a:solidFill>
            <a:prstDash val="solid"/>
          </a:ln>
        </p:spPr>
      </p:sp>
      <p:sp>
        <p:nvSpPr>
          <p:cNvPr id="25" name="Oval 24">
            <a:extLst xmlns:a="http://schemas.openxmlformats.org/drawingml/2006/main">
              <a:ext uri="{FF2B5EF4-FFF2-40B4-BE49-F238E27FC236}">
                <a16:creationId xmlns:a16="http://schemas.microsoft.com/office/drawing/2014/main" id="{A67B9157-86A7-401A-AAE7-9A997640D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3811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315B"/>
          </a:solidFill>
          <a:ln xmlns:a="http://schemas.openxmlformats.org/drawingml/2006/main" w="0">
            <a:solidFill>
              <a:srgbClr val="0C315B"/>
            </a:solidFill>
          </a:ln>
        </p:spPr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BDB9A31-56C9-49A8-82D8-1E4C01B2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3811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38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638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27" name="Rectangle: Rounded Corners 26">
            <a:extLst xmlns:a="http://schemas.openxmlformats.org/drawingml/2006/main">
              <a:ext uri="{FF2B5EF4-FFF2-40B4-BE49-F238E27FC236}">
                <a16:creationId xmlns:a16="http://schemas.microsoft.com/office/drawing/2014/main" id="{C6EE0E1B-AFDD-4FF6-A1EB-A4ADEA1C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1609725"/>
            <a:ext cx="247650" cy="180975"/>
          </a:xfrm>
          <a:prstGeom xmlns:a="http://schemas.openxmlformats.org/drawingml/2006/main" prst="roundRect">
            <a:avLst>
              <a:gd name="adj" fmla="val 21053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0C315B"/>
            </a:solidFill>
            <a:prstDash val="solid"/>
          </a:ln>
        </p:spPr>
      </p:sp>
      <p:sp>
        <p:nvSpPr>
          <p:cNvPr id="28" name="Straight Connector 27">
            <a:extLst xmlns:a="http://schemas.openxmlformats.org/drawingml/2006/main">
              <a:ext uri="{FF2B5EF4-FFF2-40B4-BE49-F238E27FC236}">
                <a16:creationId xmlns:a16="http://schemas.microsoft.com/office/drawing/2014/main" id="{7B4F47E1-0536-454F-A4A3-03E6E5A01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838325"/>
            <a:ext cx="152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C315B"/>
            </a:solidFill>
            <a:prstDash val="solid"/>
          </a:ln>
        </p:spPr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DB0F9C69-0214-4FF3-81CE-540136239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14575"/>
            <a:ext cx="2247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0C315B"/>
                </a:solidFill>
                <a:latin typeface="DejaVu Sans"/>
                <a:ea typeface="DejaVu Sans"/>
                <a:cs typeface="DejaVu Sans"/>
              </a:defRPr>
            </a:pPr>
            <a:r>
              <a:rPr sz="863" b="1">
                <a:solidFill>
                  <a:srgbClr val="0C315B"/>
                </a:solidFill>
                <a:latin typeface="DejaVu Sans"/>
                <a:ea typeface="DejaVu Sans"/>
                <a:cs typeface="DejaVu Sans"/>
              </a:rPr>
              <a:t>UPDATE STOCK</a:t>
            </a:r>
          </a:p>
        </p:txBody>
      </p:sp>
      <p:sp>
        <p:nvSpPr>
          <p:cNvPr id="30" name="Rectangle: Rounded Corners 29">
            <a:extLst xmlns:a="http://schemas.openxmlformats.org/drawingml/2006/main">
              <a:ext uri="{FF2B5EF4-FFF2-40B4-BE49-F238E27FC236}">
                <a16:creationId xmlns:a16="http://schemas.microsoft.com/office/drawing/2014/main" id="{8B8C1C81-C100-48FF-9EC9-EEF429D4A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1257300"/>
            <a:ext cx="2628900" cy="1657350"/>
          </a:xfrm>
          <a:prstGeom xmlns:a="http://schemas.openxmlformats.org/drawingml/2006/main" prst="roundRect">
            <a:avLst>
              <a:gd name="adj" fmla="val 74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3A573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31" name="Rectangle: Rounded Corners 30">
            <a:extLst xmlns:a="http://schemas.openxmlformats.org/drawingml/2006/main">
              <a:ext uri="{FF2B5EF4-FFF2-40B4-BE49-F238E27FC236}">
                <a16:creationId xmlns:a16="http://schemas.microsoft.com/office/drawing/2014/main" id="{A40B8960-3FC1-4319-BB29-E7D7B1D71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1333500"/>
            <a:ext cx="2476500" cy="1504950"/>
          </a:xfrm>
          <a:prstGeom xmlns:a="http://schemas.openxmlformats.org/drawingml/2006/main" prst="roundRect">
            <a:avLst>
              <a:gd name="adj" fmla="val 5063"/>
            </a:avLst>
          </a:prstGeom>
          <a:blipFill xmlns:a="http://schemas.openxmlformats.org/drawingml/2006/main">
            <a:blip xmlns:r="http://schemas.openxmlformats.org/officeDocument/2006/relationships" r:embed="R09a57a47c35d456b"/>
            <a:stretch>
              <a:fillRect l="0" t="0" r="0" b="0"/>
            </a:stretch>
          </a:blipFill>
          <a:ln xmlns:a="http://schemas.openxmlformats.org/drawingml/2006/main" w="7620">
            <a:solidFill>
              <a:srgbClr val="DCEAF4"/>
            </a:solidFill>
            <a:prstDash val="solid"/>
          </a:ln>
        </p:spPr>
      </p:sp>
      <p:sp>
        <p:nvSpPr>
          <p:cNvPr id="32" name="Oval 31">
            <a:extLst xmlns:a="http://schemas.openxmlformats.org/drawingml/2006/main">
              <a:ext uri="{FF2B5EF4-FFF2-40B4-BE49-F238E27FC236}">
                <a16:creationId xmlns:a16="http://schemas.microsoft.com/office/drawing/2014/main" id="{16BAC168-CCD5-4CF0-970B-57BFB563B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3811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A573"/>
          </a:solidFill>
          <a:ln xmlns:a="http://schemas.openxmlformats.org/drawingml/2006/main" w="0">
            <a:solidFill>
              <a:srgbClr val="13A573"/>
            </a:solidFill>
          </a:ln>
        </p:spPr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E9A552B7-6B5D-4BA6-96C2-D3A0CA443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3811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38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638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34" name="Rectangle: Rounded Corners 33">
            <a:extLst xmlns:a="http://schemas.openxmlformats.org/drawingml/2006/main">
              <a:ext uri="{FF2B5EF4-FFF2-40B4-BE49-F238E27FC236}">
                <a16:creationId xmlns:a16="http://schemas.microsoft.com/office/drawing/2014/main" id="{760934C6-BA3E-4E01-9CBD-D018B3DBF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1609725"/>
            <a:ext cx="247650" cy="180975"/>
          </a:xfrm>
          <a:prstGeom xmlns:a="http://schemas.openxmlformats.org/drawingml/2006/main" prst="roundRect">
            <a:avLst>
              <a:gd name="adj" fmla="val 21053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13A573"/>
            </a:solidFill>
            <a:prstDash val="solid"/>
          </a:ln>
        </p:spPr>
      </p:sp>
      <p:sp>
        <p:nvSpPr>
          <p:cNvPr id="35" name="Straight Connector 34">
            <a:extLst xmlns:a="http://schemas.openxmlformats.org/drawingml/2006/main">
              <a:ext uri="{FF2B5EF4-FFF2-40B4-BE49-F238E27FC236}">
                <a16:creationId xmlns:a16="http://schemas.microsoft.com/office/drawing/2014/main" id="{06107032-6C56-4CA5-BFD9-6899E53F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1838325"/>
            <a:ext cx="152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3A573"/>
            </a:solidFill>
            <a:prstDash val="solid"/>
          </a:ln>
        </p:spPr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2F042A4A-5123-40CC-924E-A1EFE5938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314575"/>
            <a:ext cx="2247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0C315B"/>
                </a:solidFill>
                <a:latin typeface="DejaVu Sans"/>
                <a:ea typeface="DejaVu Sans"/>
                <a:cs typeface="DejaVu Sans"/>
              </a:defRPr>
            </a:pPr>
            <a:r>
              <a:rPr sz="863" b="1">
                <a:solidFill>
                  <a:srgbClr val="0C315B"/>
                </a:solidFill>
                <a:latin typeface="DejaVu Sans"/>
                <a:ea typeface="DejaVu Sans"/>
                <a:cs typeface="DejaVu Sans"/>
              </a:rPr>
              <a:t>ARMATURE RUNNING</a:t>
            </a:r>
          </a:p>
        </p:txBody>
      </p:sp>
      <p:sp>
        <p:nvSpPr>
          <p:cNvPr id="37" name="Arrow: Right 36">
            <a:extLst xmlns:a="http://schemas.openxmlformats.org/drawingml/2006/main">
              <a:ext uri="{FF2B5EF4-FFF2-40B4-BE49-F238E27FC236}">
                <a16:creationId xmlns:a16="http://schemas.microsoft.com/office/drawing/2014/main" id="{544F2D8C-8754-403A-B824-45EF9F7F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981200"/>
            <a:ext cx="20955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C315B"/>
          </a:solidFill>
          <a:ln xmlns:a="http://schemas.openxmlformats.org/drawingml/2006/main" w="0">
            <a:solidFill>
              <a:srgbClr val="0C315B"/>
            </a:solidFill>
          </a:ln>
        </p:spPr>
      </p:sp>
      <p:sp>
        <p:nvSpPr>
          <p:cNvPr id="38" name="Arrow: Right 37">
            <a:extLst xmlns:a="http://schemas.openxmlformats.org/drawingml/2006/main">
              <a:ext uri="{FF2B5EF4-FFF2-40B4-BE49-F238E27FC236}">
                <a16:creationId xmlns:a16="http://schemas.microsoft.com/office/drawing/2014/main" id="{CA229FF9-F806-4FEC-83A9-BA5BA2F6A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981200"/>
            <a:ext cx="20955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6A42A"/>
          </a:solidFill>
          <a:ln xmlns:a="http://schemas.openxmlformats.org/drawingml/2006/main" w="0">
            <a:solidFill>
              <a:srgbClr val="E6A42A"/>
            </a:solidFill>
          </a:ln>
        </p:spPr>
      </p:sp>
      <p:sp>
        <p:nvSpPr>
          <p:cNvPr id="39" name="Arrow: Right 38">
            <a:extLst xmlns:a="http://schemas.openxmlformats.org/drawingml/2006/main">
              <a:ext uri="{FF2B5EF4-FFF2-40B4-BE49-F238E27FC236}">
                <a16:creationId xmlns:a16="http://schemas.microsoft.com/office/drawing/2014/main" id="{DBC24460-D616-4E3C-A684-2C937D10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1981200"/>
            <a:ext cx="20955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A573"/>
          </a:solidFill>
          <a:ln xmlns:a="http://schemas.openxmlformats.org/drawingml/2006/main" w="0">
            <a:solidFill>
              <a:srgbClr val="13A573"/>
            </a:solidFill>
          </a:ln>
        </p:spPr>
      </p:sp>
      <p:sp>
        <p:nvSpPr>
          <p:cNvPr id="40" name="Rectangle: Rounded Corners 39">
            <a:extLst xmlns:a="http://schemas.openxmlformats.org/drawingml/2006/main">
              <a:ext uri="{FF2B5EF4-FFF2-40B4-BE49-F238E27FC236}">
                <a16:creationId xmlns:a16="http://schemas.microsoft.com/office/drawing/2014/main" id="{AF90EB11-E913-4287-AAB7-0F4BCF0DA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105150"/>
            <a:ext cx="2628900" cy="16192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8D5E8"/>
            </a:solidFill>
            <a:prstDash val="solid"/>
          </a:ln>
        </p:spPr>
      </p:sp>
      <p:sp>
        <p:nvSpPr>
          <p:cNvPr id="41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06C4282E-5CE7-4FB2-BADC-85DB38C0E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194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35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0C315B"/>
                </a:solidFill>
                <a:latin typeface="DejaVu Sans"/>
                <a:ea typeface="DejaVu Sans"/>
                <a:cs typeface="DejaVu Sans"/>
              </a:defRPr>
            </a:pPr>
            <a:r>
              <a:rPr sz="788" b="1">
                <a:solidFill>
                  <a:srgbClr val="0C315B"/>
                </a:solidFill>
                <a:latin typeface="DejaVu Sans"/>
                <a:ea typeface="DejaVu Sans"/>
                <a:cs typeface="DejaVu Sans"/>
              </a:rPr>
              <a:t>01  LOGIN &amp; DASHBOARD</a:t>
            </a:r>
          </a:p>
        </p:txBody>
      </p:sp>
      <p:sp>
        <p:nvSpPr>
          <p:cNvPr id="42" name="Oval 41">
            <a:extLst xmlns:a="http://schemas.openxmlformats.org/drawingml/2006/main">
              <a:ext uri="{FF2B5EF4-FFF2-40B4-BE49-F238E27FC236}">
                <a16:creationId xmlns:a16="http://schemas.microsoft.com/office/drawing/2014/main" id="{8CF248DE-DBD6-4D5A-AD96-3A0BCA66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814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315B"/>
          </a:solidFill>
          <a:ln xmlns:a="http://schemas.openxmlformats.org/drawingml/2006/main" w="0">
            <a:solidFill>
              <a:srgbClr val="0C315B"/>
            </a:solidFill>
          </a:ln>
        </p:spPr>
      </p:sp>
      <p:sp>
        <p:nvSpPr>
          <p:cNvPr id="4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DD059F59-3C96-4CF6-8ADF-19F6686B8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62350"/>
            <a:ext cx="13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5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58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58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✓</a:t>
            </a:r>
          </a:p>
        </p:txBody>
      </p:sp>
      <p:sp>
        <p:nvSpPr>
          <p:cNvPr id="44" name="Rectangle 43">
            <a:extLst xmlns:a="http://schemas.openxmlformats.org/drawingml/2006/main">
              <a:ext uri="{FF2B5EF4-FFF2-40B4-BE49-F238E27FC236}">
                <a16:creationId xmlns:a16="http://schemas.microsoft.com/office/drawing/2014/main" id="{D2FB8824-FEDC-4AFB-88DB-0CB870758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562350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278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675" b="0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Monitoring stock</a:t>
            </a:r>
          </a:p>
        </p:txBody>
      </p:sp>
      <p:sp>
        <p:nvSpPr>
          <p:cNvPr id="45" name="Oval 44">
            <a:extLst xmlns:a="http://schemas.openxmlformats.org/drawingml/2006/main">
              <a:ext uri="{FF2B5EF4-FFF2-40B4-BE49-F238E27FC236}">
                <a16:creationId xmlns:a16="http://schemas.microsoft.com/office/drawing/2014/main" id="{485BC4EB-3007-433B-80A5-B1F8EB036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95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315B"/>
          </a:solidFill>
          <a:ln xmlns:a="http://schemas.openxmlformats.org/drawingml/2006/main" w="0">
            <a:solidFill>
              <a:srgbClr val="0C315B"/>
            </a:solidFill>
          </a:ln>
        </p:spPr>
      </p:sp>
      <p:sp>
        <p:nvSpPr>
          <p:cNvPr id="46" name="Rectangle 45">
            <a:extLst xmlns:a="http://schemas.openxmlformats.org/drawingml/2006/main">
              <a:ext uri="{FF2B5EF4-FFF2-40B4-BE49-F238E27FC236}">
                <a16:creationId xmlns:a16="http://schemas.microsoft.com/office/drawing/2014/main" id="{89C77593-136B-4123-A750-13E9C67C7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00475"/>
            <a:ext cx="13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5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58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58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✓</a:t>
            </a:r>
          </a:p>
        </p:txBody>
      </p:sp>
      <p:sp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8BD0E5B9-0D61-41D6-BBCE-CE401F54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800475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278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675" b="0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Lihat request masuk</a:t>
            </a:r>
          </a:p>
        </p:txBody>
      </p:sp>
      <p:sp>
        <p:nvSpPr>
          <p:cNvPr id="48" name="Oval 47">
            <a:extLst xmlns:a="http://schemas.openxmlformats.org/drawingml/2006/main">
              <a:ext uri="{FF2B5EF4-FFF2-40B4-BE49-F238E27FC236}">
                <a16:creationId xmlns:a16="http://schemas.microsoft.com/office/drawing/2014/main" id="{9913FDD1-4DA5-4E32-A97B-B76CA34D7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576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315B"/>
          </a:solidFill>
          <a:ln xmlns:a="http://schemas.openxmlformats.org/drawingml/2006/main" w="0">
            <a:solidFill>
              <a:srgbClr val="0C315B"/>
            </a:solidFill>
          </a:ln>
        </p:spPr>
      </p:sp>
      <p:sp>
        <p:nvSpPr>
          <p:cNvPr id="49" name="Rectangle 48">
            <a:extLst xmlns:a="http://schemas.openxmlformats.org/drawingml/2006/main">
              <a:ext uri="{FF2B5EF4-FFF2-40B4-BE49-F238E27FC236}">
                <a16:creationId xmlns:a16="http://schemas.microsoft.com/office/drawing/2014/main" id="{C08270CE-A76B-45FB-93F1-EB1A8E3E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38600"/>
            <a:ext cx="13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5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58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58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✓</a:t>
            </a:r>
          </a:p>
        </p:txBody>
      </p:sp>
      <p:sp>
        <p:nvSpPr>
          <p:cNvPr id="50" name="Rectangle 49">
            <a:extLst xmlns:a="http://schemas.openxmlformats.org/drawingml/2006/main">
              <a:ext uri="{FF2B5EF4-FFF2-40B4-BE49-F238E27FC236}">
                <a16:creationId xmlns:a16="http://schemas.microsoft.com/office/drawing/2014/main" id="{6383840D-2F91-47D1-9224-2A3C91C1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038600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278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675" b="0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Check K62 / K70</a:t>
            </a:r>
          </a:p>
        </p:txBody>
      </p:sp>
      <p:sp>
        <p:nvSpPr>
          <p:cNvPr id="51" name="Rectangle: Rounded Corners 50">
            <a:extLst xmlns:a="http://schemas.openxmlformats.org/drawingml/2006/main">
              <a:ext uri="{FF2B5EF4-FFF2-40B4-BE49-F238E27FC236}">
                <a16:creationId xmlns:a16="http://schemas.microsoft.com/office/drawing/2014/main" id="{02790454-E1F2-464B-9A21-F146FC93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105150"/>
            <a:ext cx="2628900" cy="16192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8D5E8"/>
            </a:solidFill>
            <a:prstDash val="solid"/>
          </a:ln>
        </p:spPr>
      </p:sp>
      <p:sp>
        <p:nvSpPr>
          <p:cNvPr id="52" name="Rectangle 51">
            <a:extLst xmlns:a="http://schemas.openxmlformats.org/drawingml/2006/main">
              <a:ext uri="{FF2B5EF4-FFF2-40B4-BE49-F238E27FC236}">
                <a16:creationId xmlns:a16="http://schemas.microsoft.com/office/drawing/2014/main" id="{6A4570D8-8243-4647-9371-0C4623974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2194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35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0C315B"/>
                </a:solidFill>
                <a:latin typeface="DejaVu Sans"/>
                <a:ea typeface="DejaVu Sans"/>
                <a:cs typeface="DejaVu Sans"/>
              </a:defRPr>
            </a:pPr>
            <a:r>
              <a:rPr sz="788" b="1">
                <a:solidFill>
                  <a:srgbClr val="0C315B"/>
                </a:solidFill>
                <a:latin typeface="DejaVu Sans"/>
                <a:ea typeface="DejaVu Sans"/>
                <a:cs typeface="DejaVu Sans"/>
              </a:rPr>
              <a:t>02  HANDLE REQUEST</a:t>
            </a:r>
          </a:p>
        </p:txBody>
      </p:sp>
      <p:sp>
        <p:nvSpPr>
          <p:cNvPr id="53" name="Rectangle 52">
            <a:extLst xmlns:a="http://schemas.openxmlformats.org/drawingml/2006/main">
              <a:ext uri="{FF2B5EF4-FFF2-40B4-BE49-F238E27FC236}">
                <a16:creationId xmlns:a16="http://schemas.microsoft.com/office/drawing/2014/main" id="{61F22E86-8564-4A85-B62F-8306E1DE8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5052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485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17A91"/>
                </a:solidFill>
                <a:latin typeface="DejaVu Sans"/>
                <a:ea typeface="DejaVu Sans"/>
                <a:cs typeface="DejaVu Sans"/>
              </a:defRPr>
            </a:pPr>
            <a:r>
              <a:rPr sz="660" b="0">
                <a:solidFill>
                  <a:srgbClr val="617A91"/>
                </a:solidFill>
                <a:latin typeface="DejaVu Sans"/>
                <a:ea typeface="DejaVu Sans"/>
                <a:cs typeface="DejaVu Sans"/>
              </a:rPr>
              <a:t>REQUEST RECEIVED</a:t>
            </a:r>
          </a:p>
        </p:txBody>
      </p:sp>
      <p:sp>
        <p:nvSpPr>
          <p:cNvPr id="54" name="Rectangle: Rounded Corners 53">
            <a:extLst xmlns:a="http://schemas.openxmlformats.org/drawingml/2006/main">
              <a:ext uri="{FF2B5EF4-FFF2-40B4-BE49-F238E27FC236}">
                <a16:creationId xmlns:a16="http://schemas.microsoft.com/office/drawing/2014/main" id="{9466E3E8-F5EE-49D4-90F1-8DA5A1AE9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819525"/>
            <a:ext cx="66675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0478">
            <a:solidFill>
              <a:srgbClr val="F0CA7B"/>
            </a:solidFill>
            <a:prstDash val="solid"/>
          </a:ln>
        </p:spPr>
      </p:sp>
      <p:sp>
        <p:nvSpPr>
          <p:cNvPr id="55" name="Rectangle 54">
            <a:extLst xmlns:a="http://schemas.openxmlformats.org/drawingml/2006/main">
              <a:ext uri="{FF2B5EF4-FFF2-40B4-BE49-F238E27FC236}">
                <a16:creationId xmlns:a16="http://schemas.microsoft.com/office/drawing/2014/main" id="{38D2791C-F332-4DC6-9CEE-E33ABCF23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819525"/>
            <a:ext cx="66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53" b="1">
                <a:solidFill>
                  <a:srgbClr val="8F5A09"/>
                </a:solidFill>
                <a:latin typeface="DejaVu Sans"/>
                <a:ea typeface="DejaVu Sans"/>
                <a:cs typeface="DejaVu Sans"/>
              </a:defRPr>
            </a:pPr>
            <a:r>
              <a:rPr sz="653" b="1">
                <a:solidFill>
                  <a:srgbClr val="8F5A09"/>
                </a:solidFill>
                <a:latin typeface="DejaVu Sans"/>
                <a:ea typeface="DejaVu Sans"/>
                <a:cs typeface="DejaVu Sans"/>
              </a:rPr>
              <a:t>PENDING</a:t>
            </a:r>
          </a:p>
        </p:txBody>
      </p:sp>
      <p:sp>
        <p:nvSpPr>
          <p:cNvPr id="56" name="Arrow: Right 55">
            <a:extLst xmlns:a="http://schemas.openxmlformats.org/drawingml/2006/main">
              <a:ext uri="{FF2B5EF4-FFF2-40B4-BE49-F238E27FC236}">
                <a16:creationId xmlns:a16="http://schemas.microsoft.com/office/drawing/2014/main" id="{0A524F3A-CAFB-45C9-A125-FB8C056E4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848100"/>
            <a:ext cx="19050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6A42A"/>
          </a:solidFill>
          <a:ln xmlns:a="http://schemas.openxmlformats.org/drawingml/2006/main" w="0">
            <a:solidFill>
              <a:srgbClr val="E6A42A"/>
            </a:solidFill>
          </a:ln>
        </p:spPr>
      </p:sp>
      <p:sp>
        <p:nvSpPr>
          <p:cNvPr id="57" name="Rectangle: Rounded Corners 56">
            <a:extLst xmlns:a="http://schemas.openxmlformats.org/drawingml/2006/main">
              <a:ext uri="{FF2B5EF4-FFF2-40B4-BE49-F238E27FC236}">
                <a16:creationId xmlns:a16="http://schemas.microsoft.com/office/drawing/2014/main" id="{86B7CAFF-2BF0-4270-ACBA-67EC39A1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819525"/>
            <a:ext cx="714375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0478">
            <a:solidFill>
              <a:srgbClr val="F0CA7B"/>
            </a:solidFill>
            <a:prstDash val="solid"/>
          </a:ln>
        </p:spPr>
      </p:sp>
      <p:sp>
        <p:nvSpPr>
          <p:cNvPr id="58" name="Rectangle 57">
            <a:extLst xmlns:a="http://schemas.openxmlformats.org/drawingml/2006/main">
              <a:ext uri="{FF2B5EF4-FFF2-40B4-BE49-F238E27FC236}">
                <a16:creationId xmlns:a16="http://schemas.microsoft.com/office/drawing/2014/main" id="{28F213F2-5FA4-4CDE-9168-EBFD24E07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819525"/>
            <a:ext cx="714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53" b="1">
                <a:solidFill>
                  <a:srgbClr val="8F5A09"/>
                </a:solidFill>
                <a:latin typeface="DejaVu Sans"/>
                <a:ea typeface="DejaVu Sans"/>
                <a:cs typeface="DejaVu Sans"/>
              </a:defRPr>
            </a:pPr>
            <a:r>
              <a:rPr sz="653" b="1">
                <a:solidFill>
                  <a:srgbClr val="8F5A09"/>
                </a:solidFill>
                <a:latin typeface="DejaVu Sans"/>
                <a:ea typeface="DejaVu Sans"/>
                <a:cs typeface="DejaVu Sans"/>
              </a:rPr>
              <a:t>ONGOING</a:t>
            </a:r>
          </a:p>
        </p:txBody>
      </p:sp>
      <p:sp>
        <p:nvSpPr>
          <p:cNvPr id="59" name="Arrow: Right 58">
            <a:extLst xmlns:a="http://schemas.openxmlformats.org/drawingml/2006/main">
              <a:ext uri="{FF2B5EF4-FFF2-40B4-BE49-F238E27FC236}">
                <a16:creationId xmlns:a16="http://schemas.microsoft.com/office/drawing/2014/main" id="{CD1CE9C6-A237-430E-8C41-5F220CEA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848100"/>
            <a:ext cx="19050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A573"/>
          </a:solidFill>
          <a:ln xmlns:a="http://schemas.openxmlformats.org/drawingml/2006/main" w="0">
            <a:solidFill>
              <a:srgbClr val="13A573"/>
            </a:solidFill>
          </a:ln>
        </p:spPr>
      </p:sp>
      <p:sp>
        <p:nvSpPr>
          <p:cNvPr id="60" name="Rectangle: Rounded Corners 59">
            <a:extLst xmlns:a="http://schemas.openxmlformats.org/drawingml/2006/main">
              <a:ext uri="{FF2B5EF4-FFF2-40B4-BE49-F238E27FC236}">
                <a16:creationId xmlns:a16="http://schemas.microsoft.com/office/drawing/2014/main" id="{450D317F-41A3-4034-A3E0-5142A6AD0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819525"/>
            <a:ext cx="523875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F7EF"/>
          </a:solidFill>
          <a:ln xmlns:a="http://schemas.openxmlformats.org/drawingml/2006/main" w="10478">
            <a:solidFill>
              <a:srgbClr val="A8E4CE"/>
            </a:solidFill>
            <a:prstDash val="solid"/>
          </a:ln>
        </p:spPr>
      </p:sp>
      <p:sp>
        <p:nvSpPr>
          <p:cNvPr id="61" name="Rectangle 60">
            <a:extLst xmlns:a="http://schemas.openxmlformats.org/drawingml/2006/main">
              <a:ext uri="{FF2B5EF4-FFF2-40B4-BE49-F238E27FC236}">
                <a16:creationId xmlns:a16="http://schemas.microsoft.com/office/drawing/2014/main" id="{5771CDCC-8B42-4551-B6C1-C18B5A6D0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819525"/>
            <a:ext cx="523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53" b="1">
                <a:solidFill>
                  <a:srgbClr val="0A7E59"/>
                </a:solidFill>
                <a:latin typeface="DejaVu Sans"/>
                <a:ea typeface="DejaVu Sans"/>
                <a:cs typeface="DejaVu Sans"/>
              </a:defRPr>
            </a:pPr>
            <a:r>
              <a:rPr sz="653" b="1">
                <a:solidFill>
                  <a:srgbClr val="0A7E59"/>
                </a:solidFill>
                <a:latin typeface="DejaVu Sans"/>
                <a:ea typeface="DejaVu Sans"/>
                <a:cs typeface="DejaVu Sans"/>
              </a:rPr>
              <a:t>DONE</a:t>
            </a:r>
          </a:p>
        </p:txBody>
      </p:sp>
      <p:sp>
        <p:nvSpPr>
          <p:cNvPr id="62" name="Rectangle 61">
            <a:extLst xmlns:a="http://schemas.openxmlformats.org/drawingml/2006/main">
              <a:ext uri="{FF2B5EF4-FFF2-40B4-BE49-F238E27FC236}">
                <a16:creationId xmlns:a16="http://schemas.microsoft.com/office/drawing/2014/main" id="{F6A4B2B5-C46B-4D39-AB18-66D895DA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181475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675" b="0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BOP menyiapkan dan mengirim material.</a:t>
            </a:r>
          </a:p>
        </p:txBody>
      </p:sp>
      <p:sp>
        <p:nvSpPr>
          <p:cNvPr id="63" name="Rectangle: Rounded Corners 62">
            <a:extLst xmlns:a="http://schemas.openxmlformats.org/drawingml/2006/main">
              <a:ext uri="{FF2B5EF4-FFF2-40B4-BE49-F238E27FC236}">
                <a16:creationId xmlns:a16="http://schemas.microsoft.com/office/drawing/2014/main" id="{3AE3BCCE-AFEC-4BD3-973F-21237C37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05150"/>
            <a:ext cx="2628900" cy="16192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8D5E8"/>
            </a:solidFill>
            <a:prstDash val="solid"/>
          </a:ln>
        </p:spPr>
      </p:sp>
      <p:sp>
        <p:nvSpPr>
          <p:cNvPr id="64" name="Rectangle 63">
            <a:extLst xmlns:a="http://schemas.openxmlformats.org/drawingml/2006/main">
              <a:ext uri="{FF2B5EF4-FFF2-40B4-BE49-F238E27FC236}">
                <a16:creationId xmlns:a16="http://schemas.microsoft.com/office/drawing/2014/main" id="{D2470FA7-8201-45D6-ACD6-BD334AB15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194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35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0C315B"/>
                </a:solidFill>
                <a:latin typeface="DejaVu Sans"/>
                <a:ea typeface="DejaVu Sans"/>
                <a:cs typeface="DejaVu Sans"/>
              </a:defRPr>
            </a:pPr>
            <a:r>
              <a:rPr sz="788" b="1">
                <a:solidFill>
                  <a:srgbClr val="0C315B"/>
                </a:solidFill>
                <a:latin typeface="DejaVu Sans"/>
                <a:ea typeface="DejaVu Sans"/>
                <a:cs typeface="DejaVu Sans"/>
              </a:rPr>
              <a:t>03  UPDATE STOCK</a:t>
            </a:r>
          </a:p>
        </p:txBody>
      </p:sp>
      <p:sp>
        <p:nvSpPr>
          <p:cNvPr id="65" name="Rectangle 64">
            <a:extLst xmlns:a="http://schemas.openxmlformats.org/drawingml/2006/main">
              <a:ext uri="{FF2B5EF4-FFF2-40B4-BE49-F238E27FC236}">
                <a16:creationId xmlns:a16="http://schemas.microsoft.com/office/drawing/2014/main" id="{8089018F-96B6-45E4-9140-8AC1CDDA5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14725"/>
            <a:ext cx="228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17A91"/>
                </a:solidFill>
                <a:latin typeface="DejaVu Sans"/>
                <a:ea typeface="DejaVu Sans"/>
                <a:cs typeface="DejaVu Sans"/>
              </a:defRPr>
            </a:pPr>
            <a:r>
              <a:rPr sz="675" b="0">
                <a:solidFill>
                  <a:srgbClr val="617A91"/>
                </a:solidFill>
                <a:latin typeface="DejaVu Sans"/>
                <a:ea typeface="DejaVu Sans"/>
                <a:cs typeface="DejaVu Sans"/>
              </a:rPr>
              <a:t>Input actual stock setelah material disiapkan atau dikirim.</a:t>
            </a:r>
          </a:p>
        </p:txBody>
      </p:sp>
      <p:sp>
        <p:nvSpPr>
          <p:cNvPr id="66" name="Rectangle: Rounded Corners 65">
            <a:extLst xmlns:a="http://schemas.openxmlformats.org/drawingml/2006/main">
              <a:ext uri="{FF2B5EF4-FFF2-40B4-BE49-F238E27FC236}">
                <a16:creationId xmlns:a16="http://schemas.microsoft.com/office/drawing/2014/main" id="{92545648-018A-4EB1-871E-6222EC9FB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76700"/>
            <a:ext cx="180975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F7EF"/>
          </a:solidFill>
          <a:ln xmlns:a="http://schemas.openxmlformats.org/drawingml/2006/main" w="10478">
            <a:solidFill>
              <a:srgbClr val="A8E4CE"/>
            </a:solidFill>
            <a:prstDash val="solid"/>
          </a:ln>
        </p:spPr>
      </p:sp>
      <p:sp>
        <p:nvSpPr>
          <p:cNvPr id="67" name="Rectangle 66">
            <a:extLst xmlns:a="http://schemas.openxmlformats.org/drawingml/2006/main">
              <a:ext uri="{FF2B5EF4-FFF2-40B4-BE49-F238E27FC236}">
                <a16:creationId xmlns:a16="http://schemas.microsoft.com/office/drawing/2014/main" id="{1076BA32-F71F-4EEC-ADE0-6244F2957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76700"/>
            <a:ext cx="1809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53" b="1">
                <a:solidFill>
                  <a:srgbClr val="0A7E59"/>
                </a:solidFill>
                <a:latin typeface="DejaVu Sans"/>
                <a:ea typeface="DejaVu Sans"/>
                <a:cs typeface="DejaVu Sans"/>
              </a:defRPr>
            </a:pPr>
            <a:r>
              <a:rPr sz="653" b="1">
                <a:solidFill>
                  <a:srgbClr val="0A7E59"/>
                </a:solidFill>
                <a:latin typeface="DejaVu Sans"/>
                <a:ea typeface="DejaVu Sans"/>
                <a:cs typeface="DejaVu Sans"/>
              </a:rPr>
              <a:t>STOCK UPDATED</a:t>
            </a:r>
          </a:p>
        </p:txBody>
      </p:sp>
      <p:sp>
        <p:nvSpPr>
          <p:cNvPr id="68" name="Rectangle: Rounded Corners 67">
            <a:extLst xmlns:a="http://schemas.openxmlformats.org/drawingml/2006/main">
              <a:ext uri="{FF2B5EF4-FFF2-40B4-BE49-F238E27FC236}">
                <a16:creationId xmlns:a16="http://schemas.microsoft.com/office/drawing/2014/main" id="{4EB777FA-C74D-42FF-BBEB-C2C69573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105150"/>
            <a:ext cx="2628900" cy="16192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8D5E8"/>
            </a:solidFill>
            <a:prstDash val="solid"/>
          </a:ln>
        </p:spPr>
      </p:sp>
      <p:sp>
        <p:nvSpPr>
          <p:cNvPr id="69" name="Rectangle 68">
            <a:extLst xmlns:a="http://schemas.openxmlformats.org/drawingml/2006/main">
              <a:ext uri="{FF2B5EF4-FFF2-40B4-BE49-F238E27FC236}">
                <a16:creationId xmlns:a16="http://schemas.microsoft.com/office/drawing/2014/main" id="{3D1CA6A8-B5BE-4C49-AED7-FAAD3515A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2194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35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0C315B"/>
                </a:solidFill>
                <a:latin typeface="DejaVu Sans"/>
                <a:ea typeface="DejaVu Sans"/>
                <a:cs typeface="DejaVu Sans"/>
              </a:defRPr>
            </a:pPr>
            <a:r>
              <a:rPr sz="788" b="1">
                <a:solidFill>
                  <a:srgbClr val="0C315B"/>
                </a:solidFill>
                <a:latin typeface="DejaVu Sans"/>
                <a:ea typeface="DejaVu Sans"/>
                <a:cs typeface="DejaVu Sans"/>
              </a:rPr>
              <a:t> 04  ARMATURE RUNNING</a:t>
            </a:r>
          </a:p>
        </p:txBody>
      </p:sp>
      <p:sp>
        <p:nvSpPr>
          <p:cNvPr id="70" name="Rectangle 69">
            <a:extLst xmlns:a="http://schemas.openxmlformats.org/drawingml/2006/main">
              <a:ext uri="{FF2B5EF4-FFF2-40B4-BE49-F238E27FC236}">
                <a16:creationId xmlns:a16="http://schemas.microsoft.com/office/drawing/2014/main" id="{2D549D81-757C-48B1-B0B3-FE3350574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514725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17A91"/>
                </a:solidFill>
                <a:latin typeface="DejaVu Sans"/>
                <a:ea typeface="DejaVu Sans"/>
                <a:cs typeface="DejaVu Sans"/>
              </a:defRPr>
            </a:pPr>
            <a:r>
              <a:rPr sz="675" b="0">
                <a:solidFill>
                  <a:srgbClr val="617A91"/>
                </a:solidFill>
                <a:latin typeface="DejaVu Sans"/>
                <a:ea typeface="DejaVu Sans"/>
                <a:cs typeface="DejaVu Sans"/>
              </a:rPr>
              <a:t>BOP menentukan material yang sedang running pada Module dan Transfer Line.</a:t>
            </a:r>
          </a:p>
        </p:txBody>
      </p:sp>
      <p:sp>
        <p:nvSpPr>
          <p:cNvPr id="71" name="Rectangle: Rounded Corners 70">
            <a:extLst xmlns:a="http://schemas.openxmlformats.org/drawingml/2006/main">
              <a:ext uri="{FF2B5EF4-FFF2-40B4-BE49-F238E27FC236}">
                <a16:creationId xmlns:a16="http://schemas.microsoft.com/office/drawing/2014/main" id="{D8B5A179-3D19-4E41-9E1A-E4D9DE01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4076700"/>
            <a:ext cx="81915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7FD"/>
          </a:solidFill>
          <a:ln xmlns:a="http://schemas.openxmlformats.org/drawingml/2006/main" w="10478">
            <a:solidFill>
              <a:srgbClr val="B8D5E8"/>
            </a:solidFill>
            <a:prstDash val="solid"/>
          </a:ln>
        </p:spPr>
      </p:sp>
      <p:sp>
        <p:nvSpPr>
          <p:cNvPr id="72" name="Rectangle 71">
            <a:extLst xmlns:a="http://schemas.openxmlformats.org/drawingml/2006/main">
              <a:ext uri="{FF2B5EF4-FFF2-40B4-BE49-F238E27FC236}">
                <a16:creationId xmlns:a16="http://schemas.microsoft.com/office/drawing/2014/main" id="{BDC57F89-F248-4953-86C6-0C5953DC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4076700"/>
            <a:ext cx="819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53" b="1">
                <a:solidFill>
                  <a:srgbClr val="2575BA"/>
                </a:solidFill>
                <a:latin typeface="DejaVu Sans"/>
                <a:ea typeface="DejaVu Sans"/>
                <a:cs typeface="DejaVu Sans"/>
              </a:defRPr>
            </a:pPr>
            <a:r>
              <a:rPr sz="653" b="1">
                <a:solidFill>
                  <a:srgbClr val="2575BA"/>
                </a:solidFill>
                <a:latin typeface="DejaVu Sans"/>
                <a:ea typeface="DejaVu Sans"/>
                <a:cs typeface="DejaVu Sans"/>
              </a:rPr>
              <a:t>MODULE</a:t>
            </a:r>
          </a:p>
        </p:txBody>
      </p:sp>
      <p:sp>
        <p:nvSpPr>
          <p:cNvPr id="73" name="Rectangle: Rounded Corners 72">
            <a:extLst xmlns:a="http://schemas.openxmlformats.org/drawingml/2006/main">
              <a:ext uri="{FF2B5EF4-FFF2-40B4-BE49-F238E27FC236}">
                <a16:creationId xmlns:a16="http://schemas.microsoft.com/office/drawing/2014/main" id="{058BB59B-FF38-4725-9BBF-0C81C39C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4076700"/>
            <a:ext cx="123825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7FD"/>
          </a:solidFill>
          <a:ln xmlns:a="http://schemas.openxmlformats.org/drawingml/2006/main" w="10478">
            <a:solidFill>
              <a:srgbClr val="B8D5E8"/>
            </a:solidFill>
            <a:prstDash val="solid"/>
          </a:ln>
        </p:spPr>
      </p:sp>
      <p:sp>
        <p:nvSpPr>
          <p:cNvPr id="74" name="Rectangle 73">
            <a:extLst xmlns:a="http://schemas.openxmlformats.org/drawingml/2006/main">
              <a:ext uri="{FF2B5EF4-FFF2-40B4-BE49-F238E27FC236}">
                <a16:creationId xmlns:a16="http://schemas.microsoft.com/office/drawing/2014/main" id="{5055ED0C-9E90-4566-8878-4BB1A1165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4076700"/>
            <a:ext cx="1238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53" b="1">
                <a:solidFill>
                  <a:srgbClr val="2575BA"/>
                </a:solidFill>
                <a:latin typeface="DejaVu Sans"/>
                <a:ea typeface="DejaVu Sans"/>
                <a:cs typeface="DejaVu Sans"/>
              </a:defRPr>
            </a:pPr>
            <a:r>
              <a:rPr sz="653" b="1">
                <a:solidFill>
                  <a:srgbClr val="2575BA"/>
                </a:solidFill>
                <a:latin typeface="DejaVu Sans"/>
                <a:ea typeface="DejaVu Sans"/>
                <a:cs typeface="DejaVu Sans"/>
              </a:rPr>
              <a:t>TRANSFER LINE</a:t>
            </a:r>
          </a:p>
        </p:txBody>
      </p:sp>
      <p:sp>
        <p:nvSpPr>
          <p:cNvPr id="75" name="Rectangle: Rounded Corners 74">
            <a:extLst xmlns:a="http://schemas.openxmlformats.org/drawingml/2006/main">
              <a:ext uri="{FF2B5EF4-FFF2-40B4-BE49-F238E27FC236}">
                <a16:creationId xmlns:a16="http://schemas.microsoft.com/office/drawing/2014/main" id="{70E7C354-DCD3-4B27-BC67-A5FE0586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924425"/>
            <a:ext cx="11458575" cy="1571625"/>
          </a:xfrm>
          <a:prstGeom xmlns:a="http://schemas.openxmlformats.org/drawingml/2006/main" prst="roundRect">
            <a:avLst>
              <a:gd name="adj" fmla="val 969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0478">
            <a:solidFill>
              <a:srgbClr val="CFDDE8"/>
            </a:solidFill>
            <a:prstDash val="solid"/>
          </a:ln>
        </p:spPr>
      </p:sp>
      <p:pic>
        <p:nvPicPr>
          <p:cNvPr id="163" name="Picture 16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95dac382114e79"/>
          <a:stretch xmlns:a="http://schemas.openxmlformats.org/drawingml/2006/main"/>
        </p:blipFill>
        <p:spPr>
          <a:xfrm xmlns:a="http://schemas.openxmlformats.org/drawingml/2006/main">
            <a:off x="438150" y="5286375"/>
            <a:ext cx="2428875" cy="809625"/>
          </a:xfrm>
          <a:prstGeom xmlns:a="http://schemas.openxmlformats.org/drawingml/2006/main" prst="rect">
            <a:avLst/>
          </a:prstGeom>
        </p:spPr>
      </p:pic>
      <p:sp>
        <p:nvSpPr>
          <p:cNvPr id="77" name="Rectangle 76">
            <a:extLst xmlns:a="http://schemas.openxmlformats.org/drawingml/2006/main">
              <a:ext uri="{FF2B5EF4-FFF2-40B4-BE49-F238E27FC236}">
                <a16:creationId xmlns:a16="http://schemas.microsoft.com/office/drawing/2014/main" id="{E63FBBE8-0C46-4894-8F0E-FF2C7B0BC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06730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C315B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0C315B"/>
                </a:solidFill>
                <a:latin typeface="DejaVu Sans"/>
                <a:ea typeface="DejaVu Sans"/>
                <a:cs typeface="DejaVu Sans"/>
              </a:rPr>
              <a:t>ARMATURE LINE BOP</a:t>
            </a:r>
          </a:p>
        </p:txBody>
      </p:sp>
      <p:sp>
        <p:nvSpPr>
          <p:cNvPr id="78" name="Rectangle 77">
            <a:extLst xmlns:a="http://schemas.openxmlformats.org/drawingml/2006/main">
              <a:ext uri="{FF2B5EF4-FFF2-40B4-BE49-F238E27FC236}">
                <a16:creationId xmlns:a16="http://schemas.microsoft.com/office/drawing/2014/main" id="{BB0ACACD-0BFF-4946-8EE3-2DB7B4306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334000"/>
            <a:ext cx="3905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617A91"/>
                </a:solidFill>
                <a:latin typeface="DejaVu Sans"/>
                <a:ea typeface="DejaVu Sans"/>
                <a:cs typeface="DejaVu Sans"/>
              </a:defRPr>
            </a:pPr>
            <a:r>
              <a:rPr sz="713" b="0">
                <a:solidFill>
                  <a:srgbClr val="617A91"/>
                </a:solidFill>
                <a:latin typeface="DejaVu Sans"/>
                <a:ea typeface="DejaVu Sans"/>
                <a:cs typeface="DejaVu Sans"/>
              </a:rPr>
              <a:t>BOP handles incoming requests, supplies material, and records actual stock.</a:t>
            </a:r>
          </a:p>
        </p:txBody>
      </p:sp>
      <p:sp>
        <p:nvSpPr>
          <p:cNvPr id="79" name="Rectangle: Rounded Corners 78">
            <a:extLst xmlns:a="http://schemas.openxmlformats.org/drawingml/2006/main">
              <a:ext uri="{FF2B5EF4-FFF2-40B4-BE49-F238E27FC236}">
                <a16:creationId xmlns:a16="http://schemas.microsoft.com/office/drawing/2014/main" id="{5239F31F-4974-44F8-8DE0-E252EFD8F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905500"/>
            <a:ext cx="118110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0478">
            <a:solidFill>
              <a:srgbClr val="F0CA7B"/>
            </a:solidFill>
            <a:prstDash val="solid"/>
          </a:ln>
        </p:spPr>
      </p:sp>
      <p:sp>
        <p:nvSpPr>
          <p:cNvPr id="80" name="Rectangle 79">
            <a:extLst xmlns:a="http://schemas.openxmlformats.org/drawingml/2006/main">
              <a:ext uri="{FF2B5EF4-FFF2-40B4-BE49-F238E27FC236}">
                <a16:creationId xmlns:a16="http://schemas.microsoft.com/office/drawing/2014/main" id="{4164CA3F-D433-43DD-8EE8-24CFBF44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905500"/>
            <a:ext cx="1181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53" b="1">
                <a:solidFill>
                  <a:srgbClr val="8F5A09"/>
                </a:solidFill>
                <a:latin typeface="DejaVu Sans"/>
                <a:ea typeface="DejaVu Sans"/>
                <a:cs typeface="DejaVu Sans"/>
              </a:defRPr>
            </a:pPr>
            <a:r>
              <a:rPr sz="653" b="1">
                <a:solidFill>
                  <a:srgbClr val="8F5A09"/>
                </a:solidFill>
                <a:latin typeface="DejaVu Sans"/>
                <a:ea typeface="DejaVu Sans"/>
                <a:cs typeface="DejaVu Sans"/>
              </a:rPr>
              <a:t>HANDLE REQUEST</a:t>
            </a:r>
          </a:p>
        </p:txBody>
      </p:sp>
      <p:sp>
        <p:nvSpPr>
          <p:cNvPr id="81" name="Rectangle: Rounded Corners 80">
            <a:extLst xmlns:a="http://schemas.openxmlformats.org/drawingml/2006/main">
              <a:ext uri="{FF2B5EF4-FFF2-40B4-BE49-F238E27FC236}">
                <a16:creationId xmlns:a16="http://schemas.microsoft.com/office/drawing/2014/main" id="{477668C0-92A0-4702-BAFA-A07DA6308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5905500"/>
            <a:ext cx="110490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F7EF"/>
          </a:solidFill>
          <a:ln xmlns:a="http://schemas.openxmlformats.org/drawingml/2006/main" w="10478">
            <a:solidFill>
              <a:srgbClr val="A8E4CE"/>
            </a:solidFill>
            <a:prstDash val="solid"/>
          </a:ln>
        </p:spPr>
      </p:sp>
      <p:sp>
        <p:nvSpPr>
          <p:cNvPr id="82" name="Rectangle 81">
            <a:extLst xmlns:a="http://schemas.openxmlformats.org/drawingml/2006/main">
              <a:ext uri="{FF2B5EF4-FFF2-40B4-BE49-F238E27FC236}">
                <a16:creationId xmlns:a16="http://schemas.microsoft.com/office/drawing/2014/main" id="{E3DE86AF-1AD8-40FB-A766-CDDE8052B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5905500"/>
            <a:ext cx="1104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53" b="1">
                <a:solidFill>
                  <a:srgbClr val="0A7E59"/>
                </a:solidFill>
                <a:latin typeface="DejaVu Sans"/>
                <a:ea typeface="DejaVu Sans"/>
                <a:cs typeface="DejaVu Sans"/>
              </a:defRPr>
            </a:pPr>
            <a:r>
              <a:rPr sz="653" b="1">
                <a:solidFill>
                  <a:srgbClr val="0A7E59"/>
                </a:solidFill>
                <a:latin typeface="DejaVu Sans"/>
                <a:ea typeface="DejaVu Sans"/>
                <a:cs typeface="DejaVu Sans"/>
              </a:rPr>
              <a:t>UPDATE STOCK</a:t>
            </a:r>
          </a:p>
        </p:txBody>
      </p:sp>
      <p:sp>
        <p:nvSpPr>
          <p:cNvPr id="83" name="Rectangle: Rounded Corners 82">
            <a:extLst xmlns:a="http://schemas.openxmlformats.org/drawingml/2006/main">
              <a:ext uri="{FF2B5EF4-FFF2-40B4-BE49-F238E27FC236}">
                <a16:creationId xmlns:a16="http://schemas.microsoft.com/office/drawing/2014/main" id="{863F8F81-C900-4337-87E5-0AC0B595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05400"/>
            <a:ext cx="4267200" cy="1047750"/>
          </a:xfrm>
          <a:prstGeom xmlns:a="http://schemas.openxmlformats.org/drawingml/2006/main" prst="roundRect">
            <a:avLst>
              <a:gd name="adj" fmla="val 11818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0478">
            <a:solidFill>
              <a:srgbClr val="F0CA7B"/>
            </a:solidFill>
            <a:prstDash val="solid"/>
          </a:ln>
        </p:spPr>
      </p:sp>
      <p:sp>
        <p:nvSpPr>
          <p:cNvPr id="84" name="Rectangle 83">
            <a:extLst xmlns:a="http://schemas.openxmlformats.org/drawingml/2006/main">
              <a:ext uri="{FF2B5EF4-FFF2-40B4-BE49-F238E27FC236}">
                <a16:creationId xmlns:a16="http://schemas.microsoft.com/office/drawing/2014/main" id="{B87B1234-7766-4329-AF5B-EABE57FDF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521970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64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E6A42A"/>
                </a:solidFill>
                <a:latin typeface="DejaVu Sans"/>
                <a:ea typeface="DejaVu Sans"/>
                <a:cs typeface="DejaVu Sans"/>
              </a:defRPr>
            </a:pPr>
            <a:r>
              <a:rPr sz="713" b="1">
                <a:solidFill>
                  <a:srgbClr val="E6A42A"/>
                </a:solidFill>
                <a:latin typeface="DejaVu Sans"/>
                <a:ea typeface="DejaVu Sans"/>
                <a:cs typeface="DejaVu Sans"/>
              </a:rPr>
              <a:t>IMPORTANT</a:t>
            </a:r>
          </a:p>
        </p:txBody>
      </p:sp>
      <p:sp>
        <p:nvSpPr>
          <p:cNvPr id="85" name="Rectangle 84">
            <a:extLst xmlns:a="http://schemas.openxmlformats.org/drawingml/2006/main">
              <a:ext uri="{FF2B5EF4-FFF2-40B4-BE49-F238E27FC236}">
                <a16:creationId xmlns:a16="http://schemas.microsoft.com/office/drawing/2014/main" id="{9B30C44B-F933-4D68-9C7F-0C5197572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5467350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05" b="1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705" b="1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DONE hanya menyelesaikan request. Stock berubah melalui USE atau UPDATE STOCK.</a:t>
            </a:r>
          </a:p>
        </p:txBody>
      </p:sp>
    </p:spTree>
    <p:extLst>
      <p:ext uri="{BB962C8B-B14F-4D97-AF65-F5344CB8AC3E}">
        <p14:creationId xmlns:p14="http://schemas.microsoft.com/office/powerpoint/2010/main" val="4531455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76200" dist="30121" dir="4293903">
              <a:srgbClr val="17324D">
                <a:alpha val="8000"/>
              </a:srgbClr>
            </a:outerShdw>
          </a:effectLst>
        </a:effectStyle>
        <a:effectStyle>
          <a:effectLst>
            <a:outerShdw blurRad="133350" dist="51294" dir="4091915">
              <a:srgbClr val="17324D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2026-09-13T14:18:54.6390000Z</dcterms:created>
  <dcterms:modified xsi:type="dcterms:W3CDTF">2026-09-13T14:18:54.6400000Z</dcterms:modified>
</coreProperties>
</file>